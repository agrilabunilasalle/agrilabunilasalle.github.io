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9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0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6" r:id="rId3"/>
    <p:sldId id="258" r:id="rId4"/>
    <p:sldId id="259" r:id="rId5"/>
    <p:sldId id="306" r:id="rId6"/>
    <p:sldId id="310" r:id="rId7"/>
    <p:sldId id="301" r:id="rId8"/>
    <p:sldId id="307" r:id="rId9"/>
    <p:sldId id="308" r:id="rId10"/>
    <p:sldId id="312" r:id="rId11"/>
    <p:sldId id="309" r:id="rId12"/>
    <p:sldId id="311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55228-5E99-43D9-9340-B574F265CBA2}" type="datetimeFigureOut">
              <a:rPr lang="fr-FR" smtClean="0"/>
              <a:t>01/04/2019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C2FC8-8324-4D2F-BAD4-2DF4F6488A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992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Depuis 2013 : 3</a:t>
            </a:r>
            <a:r>
              <a:rPr lang="fr-FR" baseline="30000" dirty="0"/>
              <a:t>ème</a:t>
            </a:r>
            <a:r>
              <a:rPr lang="fr-FR" dirty="0"/>
              <a:t> révolution numérique </a:t>
            </a:r>
            <a:r>
              <a:rPr lang="fr-FR" dirty="0">
                <a:sym typeface="Wingdings" panose="05000000000000000000" pitchFamily="2" charset="2"/>
              </a:rPr>
              <a:t> AgriLab veut faciliter l’accès à cette 3</a:t>
            </a:r>
            <a:r>
              <a:rPr lang="fr-FR" baseline="30000" dirty="0">
                <a:sym typeface="Wingdings" panose="05000000000000000000" pitchFamily="2" charset="2"/>
              </a:rPr>
              <a:t>ème</a:t>
            </a:r>
            <a:r>
              <a:rPr lang="fr-FR" dirty="0">
                <a:sym typeface="Wingdings" panose="05000000000000000000" pitchFamily="2" charset="2"/>
              </a:rPr>
              <a:t> révolution numérique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C2FC8-8324-4D2F-BAD4-2DF4F6488AE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2433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0,3% des brevets qui sont montés à échelle industrielle</a:t>
            </a:r>
          </a:p>
          <a:p>
            <a:r>
              <a:rPr lang="fr-FR" dirty="0"/>
              <a:t>50000€ pour déposer un brevet en France</a:t>
            </a:r>
          </a:p>
          <a:p>
            <a:r>
              <a:rPr lang="fr-FR" dirty="0"/>
              <a:t>500000€ voire 1 million pour déposer un brevet à l’international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C2FC8-8324-4D2F-BAD4-2DF4F6488AE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5692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200 tiers lieux officieux en FRANCE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C2FC8-8324-4D2F-BAD4-2DF4F6488AE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334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Onglet « Formation » </a:t>
            </a:r>
            <a:r>
              <a:rPr lang="fr-FR"/>
              <a:t>pour s’inscrire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C2FC8-8324-4D2F-BAD4-2DF4F6488AE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1518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C2FC8-8324-4D2F-BAD4-2DF4F6488AE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376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59B0FD-F8B4-4F50-B695-6CAFB4078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7A97C6-0638-4815-9B19-97C5EE0EC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1E6D52-3B14-48AF-8888-560B43C0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0F7E-E844-4D0A-96C9-D138B7A03F9A}" type="datetime1">
              <a:rPr lang="fr-FR" smtClean="0"/>
              <a:t>01/04/2019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DD4F0E-2721-445B-A0BD-54605AAA0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C182A5-1AFD-4DF3-A940-205C77551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847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060ECA-BB40-434A-B625-1F5A669B7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92F06D-0288-4B80-9A23-37B8756DE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5B49BF-8CE0-4AC0-9E52-D4A534301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330A-E153-4EE8-BB1A-3A777938F6B6}" type="datetime1">
              <a:rPr lang="fr-FR" smtClean="0"/>
              <a:t>01/04/2019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FAEBB4-B1B9-4BC4-850B-77EE7660B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C9044D-A495-43C2-A75C-AC142434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726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B8582-91FD-475F-BCC8-CB7E99CB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4C6D36B-0D30-46BC-9B25-F789627B7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C422DA-63C3-4F68-8CFB-519D7804F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9E7F-CFB7-4D33-96BA-572DD5EF1504}" type="datetime1">
              <a:rPr lang="fr-FR" smtClean="0"/>
              <a:t>01/04/2019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9E0F42-CFF8-4AC2-B5E6-D6E2A9D4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809D48-7A1C-4B5D-A786-796D8D2B5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88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1793D1-8A6A-47BC-87A1-ADA481BA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5CE309-BB42-496F-A9D0-9DA02F134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E08D26-46CC-42A6-B34E-86BA3F6C5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7C9F31-7C56-44B0-A449-8051CA3B4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ED722-9DCA-46F7-8FD9-F38337CBAA46}" type="datetime1">
              <a:rPr lang="fr-FR" smtClean="0"/>
              <a:t>01/04/2019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537CBC-269E-481B-9C89-C4B57037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AE232F-7926-40FE-BF33-37C72F4C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9372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CFE72D-F532-45E0-A6C5-DD71E6DC3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4BED21-2205-4D6D-9EBB-B444861EE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3B48D04-BF65-4CFB-9473-3E4675052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C1D76DC-F005-451B-A1A0-40FAEA2F0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12B176D-74D1-4A62-8D3B-79F3F934D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5E80495-9648-4CCE-ADBB-63D02F04E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1A33E-910C-4534-8761-7B34F37FF44F}" type="datetime1">
              <a:rPr lang="fr-FR" smtClean="0"/>
              <a:t>01/04/2019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97F3283-15EE-40A2-AA3D-1E87ECC5E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376BEF-D1DD-4D33-ABC2-C0E2B1D28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3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3F3A51-B481-4C96-95BF-6B386C7D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A96F9F8-F5F9-4856-9FA5-1C952140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6921B-6D8A-4EE4-A34B-B792E07574CC}" type="datetime1">
              <a:rPr lang="fr-FR" smtClean="0"/>
              <a:t>01/04/2019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5AC8E0E-4D8C-4C88-8AA8-D0B4044D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2B0D8C-F13C-4ECB-B272-F2385498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14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1AB93AC-A675-4331-B604-535CCCC8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9446-998B-4867-A566-35C5D01FB93D}" type="datetime1">
              <a:rPr lang="fr-FR" smtClean="0"/>
              <a:t>01/04/2019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28CC1A-097D-4BF2-A79F-5518DBDA7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90A581-C5B1-4954-86A8-0E2CD55CB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951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429247-78D2-4F3F-99D1-193C11F7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769D0C-1889-496F-8752-1E220EDE2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B572AC-B2DA-44CA-9715-12E7371D4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E0D27B-862C-4A05-A0FA-D9A16307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6B909-58F9-4F90-B7FF-CA4F12E93A1C}" type="datetime1">
              <a:rPr lang="fr-FR" smtClean="0"/>
              <a:t>01/04/2019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F50D08-B58A-485D-8898-57D06CD6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203C53-1CA8-48D0-AE08-AE2267E92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156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E6E0FB-437F-4441-8B74-519D08018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3EE71C5-4541-4829-8D44-48FCF9A47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05DCAE-DD06-4ACD-AA96-6D71F913A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7076A4-65E8-449F-A968-8C6D1AC8B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FA0A4-73CF-4983-B4FD-BCBD32127127}" type="datetime1">
              <a:rPr lang="fr-FR" smtClean="0"/>
              <a:t>01/04/2019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2B546B-A933-49D4-9863-E40137BD5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997DB6-5BC6-463E-BEE6-26E4A3F0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788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6ED07D-E0F9-4DE8-B619-FF8B4F47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B505EE-4E7D-4B37-9E21-E75BD102F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ED8D1C-80E6-4F21-A33A-0C507FE92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92AE-30AE-4288-AD90-87A477347F2A}" type="datetime1">
              <a:rPr lang="fr-FR" smtClean="0"/>
              <a:t>01/04/2019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8B44B0-0612-4D25-9DBD-4E51C783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440CC6-D6D2-40EC-8657-2B04151C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205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4D4750F-4653-402B-B9E5-7CFFBF436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2C3E2AA-F5F9-4873-A301-81BF2A900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FFD97C-27C6-47CE-9DEC-43436F64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DDA4-02C2-45C1-B432-E5F0E7ADB394}" type="datetime1">
              <a:rPr lang="fr-FR" smtClean="0"/>
              <a:t>01/04/2019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47BF7A-EDD1-4C7F-AD4C-AE07DB4F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0A481E-D6A3-447A-9A67-1A6A604F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6127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6BF5F9D-7BB8-4FFC-B9DF-0D8263118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C0ED38-FBB2-4507-836C-8DCF0F6E8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B38F48-7399-48C2-8EAC-4A20499E8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60D15-322D-48D9-9AAE-5BEA9E048D27}" type="datetime1">
              <a:rPr lang="fr-FR" smtClean="0"/>
              <a:t>01/04/2019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90BB01-4AE2-4B4A-B084-95838E9A7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1AC9B6-1013-408E-87AC-0D0BD6DB2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862D0-423C-4119-B50C-E296720CE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28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ablabs.io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D3CD799-6547-40FD-9886-BE54EF93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02F862D0-423C-4119-B50C-E296720CECEF}" type="slidenum">
              <a:rPr lang="en-US">
                <a:solidFill>
                  <a:srgbClr val="FFFFFF"/>
                </a:solidFill>
              </a:rPr>
              <a:pPr defTabSz="457200"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7453D9D3-AFEB-4FE3-9DB3-5B583A16C86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1999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3116E68-F43E-4FA4-80D4-BF5410BB45FA}"/>
              </a:ext>
            </a:extLst>
          </p:cNvPr>
          <p:cNvSpPr/>
          <p:nvPr/>
        </p:nvSpPr>
        <p:spPr>
          <a:xfrm>
            <a:off x="0" y="338426"/>
            <a:ext cx="12192000" cy="10984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402E7F5-0453-462D-B664-46CF7DEAC2C4}"/>
              </a:ext>
            </a:extLst>
          </p:cNvPr>
          <p:cNvSpPr txBox="1"/>
          <p:nvPr/>
        </p:nvSpPr>
        <p:spPr>
          <a:xfrm>
            <a:off x="-3" y="413493"/>
            <a:ext cx="6326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cap="small" dirty="0">
                <a:latin typeface="+mj-lt"/>
                <a:cs typeface="Arial" panose="020B0604020202020204" pitchFamily="34" charset="0"/>
              </a:rPr>
              <a:t>Atelier d’initiation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216F5E8B-0DE5-4881-97A3-972F06B84E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1763" y="568866"/>
            <a:ext cx="2105373" cy="65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215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865AC01F-7610-470B-A789-544BC1D28B17}"/>
              </a:ext>
            </a:extLst>
          </p:cNvPr>
          <p:cNvGrpSpPr/>
          <p:nvPr/>
        </p:nvGrpSpPr>
        <p:grpSpPr>
          <a:xfrm>
            <a:off x="278765" y="313227"/>
            <a:ext cx="11634469" cy="769441"/>
            <a:chOff x="285750" y="361394"/>
            <a:chExt cx="11634469" cy="769441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981283F4-FADE-4B1F-BAFA-A53E07ACFE7A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" y="774133"/>
              <a:ext cx="2257630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0F001C35-AE3E-4B25-BCBA-9EE9BEF3526F}"/>
                </a:ext>
              </a:extLst>
            </p:cNvPr>
            <p:cNvSpPr txBox="1"/>
            <p:nvPr/>
          </p:nvSpPr>
          <p:spPr>
            <a:xfrm>
              <a:off x="2543380" y="361394"/>
              <a:ext cx="69719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400" cap="small" dirty="0">
                  <a:solidFill>
                    <a:srgbClr val="92D050"/>
                  </a:solidFill>
                </a:rPr>
                <a:t>AgriLab : Centre d’innovation</a:t>
              </a:r>
            </a:p>
          </p:txBody>
        </p: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14F434E0-72D8-46BB-B7DC-9FB490311C55}"/>
                </a:ext>
              </a:extLst>
            </p:cNvPr>
            <p:cNvCxnSpPr>
              <a:cxnSpLocks/>
            </p:cNvCxnSpPr>
            <p:nvPr/>
          </p:nvCxnSpPr>
          <p:spPr>
            <a:xfrm>
              <a:off x="9515310" y="774133"/>
              <a:ext cx="2404909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8" name="object 15">
            <a:extLst>
              <a:ext uri="{FF2B5EF4-FFF2-40B4-BE49-F238E27FC236}">
                <a16:creationId xmlns:a16="http://schemas.microsoft.com/office/drawing/2014/main" id="{1F6B7128-A963-42C8-84D5-4A86FE9B60B5}"/>
              </a:ext>
            </a:extLst>
          </p:cNvPr>
          <p:cNvSpPr txBox="1"/>
          <p:nvPr/>
        </p:nvSpPr>
        <p:spPr>
          <a:xfrm>
            <a:off x="615365" y="1227852"/>
            <a:ext cx="11174096" cy="1645321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Font typeface="Wingdings" panose="05000000000000000000" pitchFamily="2" charset="2"/>
              <a:buChar char="§"/>
            </a:pPr>
            <a:r>
              <a:rPr lang="fr-FR" sz="2400" spc="15" dirty="0">
                <a:cs typeface="Arial"/>
              </a:rPr>
              <a:t>Centre</a:t>
            </a:r>
            <a:r>
              <a:rPr sz="2400" spc="15" dirty="0">
                <a:cs typeface="Arial"/>
              </a:rPr>
              <a:t> </a:t>
            </a:r>
            <a:r>
              <a:rPr sz="2400" spc="10" dirty="0" err="1">
                <a:cs typeface="Arial"/>
              </a:rPr>
              <a:t>d'innovation</a:t>
            </a:r>
            <a:r>
              <a:rPr sz="2400" spc="10" dirty="0">
                <a:cs typeface="Arial"/>
              </a:rPr>
              <a:t> </a:t>
            </a:r>
            <a:r>
              <a:rPr lang="fr-FR" sz="2400" b="1" spc="10" dirty="0">
                <a:cs typeface="Arial"/>
              </a:rPr>
              <a:t>collaborative</a:t>
            </a:r>
            <a:r>
              <a:rPr lang="fr-FR" sz="2400" spc="10" dirty="0">
                <a:cs typeface="Arial"/>
              </a:rPr>
              <a:t>, </a:t>
            </a:r>
            <a:r>
              <a:rPr lang="fr-FR" sz="2400" b="1" spc="10" dirty="0">
                <a:cs typeface="Arial"/>
              </a:rPr>
              <a:t>ascendante</a:t>
            </a:r>
            <a:r>
              <a:rPr lang="fr-FR" sz="2400" spc="10" dirty="0">
                <a:cs typeface="Arial"/>
              </a:rPr>
              <a:t>, </a:t>
            </a:r>
            <a:r>
              <a:rPr lang="fr-FR" sz="2400" b="1" spc="10" dirty="0">
                <a:cs typeface="Arial"/>
              </a:rPr>
              <a:t>ouverte et libre</a:t>
            </a:r>
            <a:endParaRPr sz="2400" b="1" dirty="0"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Wingdings" panose="05000000000000000000" pitchFamily="2" charset="2"/>
              <a:buChar char="§"/>
            </a:pPr>
            <a:r>
              <a:rPr lang="fr-FR" sz="2400" spc="15" dirty="0">
                <a:cs typeface="Arial"/>
              </a:rPr>
              <a:t>P</a:t>
            </a:r>
            <a:r>
              <a:rPr sz="2400" spc="15" dirty="0" err="1">
                <a:cs typeface="Arial"/>
              </a:rPr>
              <a:t>lateforme</a:t>
            </a:r>
            <a:r>
              <a:rPr sz="2400" spc="254" dirty="0">
                <a:cs typeface="Arial"/>
              </a:rPr>
              <a:t> </a:t>
            </a:r>
            <a:r>
              <a:rPr sz="2400" spc="10" dirty="0" err="1">
                <a:cs typeface="Arial"/>
              </a:rPr>
              <a:t>exprimentale</a:t>
            </a:r>
            <a:r>
              <a:rPr sz="2400" spc="254" dirty="0">
                <a:cs typeface="Arial"/>
              </a:rPr>
              <a:t> </a:t>
            </a:r>
            <a:r>
              <a:rPr sz="2400" spc="10" dirty="0">
                <a:cs typeface="Arial"/>
              </a:rPr>
              <a:t>dans</a:t>
            </a:r>
            <a:r>
              <a:rPr sz="2400" spc="270" dirty="0">
                <a:cs typeface="Arial"/>
              </a:rPr>
              <a:t> </a:t>
            </a:r>
            <a:r>
              <a:rPr sz="2400" spc="10" dirty="0">
                <a:cs typeface="Arial"/>
              </a:rPr>
              <a:t>le</a:t>
            </a:r>
            <a:r>
              <a:rPr sz="2400" spc="260" dirty="0">
                <a:cs typeface="Arial"/>
              </a:rPr>
              <a:t> </a:t>
            </a:r>
            <a:r>
              <a:rPr sz="2400" spc="15" dirty="0" err="1">
                <a:cs typeface="Arial"/>
              </a:rPr>
              <a:t>domaine</a:t>
            </a:r>
            <a:r>
              <a:rPr sz="2400" spc="260" dirty="0">
                <a:cs typeface="Arial"/>
              </a:rPr>
              <a:t> </a:t>
            </a:r>
            <a:r>
              <a:rPr sz="2400" spc="10" dirty="0">
                <a:cs typeface="Arial"/>
              </a:rPr>
              <a:t>des</a:t>
            </a:r>
            <a:r>
              <a:rPr lang="fr-FR" sz="2400" spc="254" dirty="0">
                <a:cs typeface="Arial"/>
              </a:rPr>
              <a:t> </a:t>
            </a:r>
            <a:r>
              <a:rPr sz="2400" b="1" spc="10" dirty="0" err="1">
                <a:cs typeface="Arial"/>
              </a:rPr>
              <a:t>nouvelles</a:t>
            </a:r>
            <a:r>
              <a:rPr lang="fr-FR" sz="2400" b="1" spc="10" dirty="0">
                <a:cs typeface="Arial"/>
              </a:rPr>
              <a:t> technologies </a:t>
            </a:r>
            <a:r>
              <a:rPr sz="2400" spc="10" dirty="0" err="1">
                <a:cs typeface="Arial"/>
              </a:rPr>
              <a:t>appliquées</a:t>
            </a:r>
            <a:r>
              <a:rPr sz="2400" spc="10" dirty="0">
                <a:cs typeface="Arial"/>
              </a:rPr>
              <a:t> aux exploitations</a:t>
            </a:r>
            <a:r>
              <a:rPr sz="2400" spc="-30" dirty="0">
                <a:cs typeface="Arial"/>
              </a:rPr>
              <a:t> </a:t>
            </a:r>
            <a:r>
              <a:rPr sz="2400" spc="10" dirty="0">
                <a:cs typeface="Arial"/>
              </a:rPr>
              <a:t>agricoles</a:t>
            </a:r>
            <a:endParaRPr sz="2400" dirty="0"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Wingdings" panose="05000000000000000000" pitchFamily="2" charset="2"/>
              <a:buChar char="§"/>
            </a:pPr>
            <a:r>
              <a:rPr lang="fr-FR" sz="2400" spc="20" dirty="0">
                <a:cs typeface="Arial"/>
              </a:rPr>
              <a:t>D</a:t>
            </a:r>
            <a:r>
              <a:rPr sz="2400" spc="20" dirty="0" err="1">
                <a:cs typeface="Arial"/>
              </a:rPr>
              <a:t>ans</a:t>
            </a:r>
            <a:r>
              <a:rPr sz="2400" spc="20" dirty="0">
                <a:cs typeface="Arial"/>
              </a:rPr>
              <a:t> un </a:t>
            </a:r>
            <a:r>
              <a:rPr sz="2400" b="1" spc="10" dirty="0">
                <a:cs typeface="Arial"/>
              </a:rPr>
              <a:t>écosystème</a:t>
            </a:r>
            <a:r>
              <a:rPr sz="2400" spc="-55" dirty="0">
                <a:cs typeface="Arial"/>
              </a:rPr>
              <a:t> </a:t>
            </a:r>
            <a:r>
              <a:rPr sz="2400" spc="15" dirty="0">
                <a:cs typeface="Arial"/>
              </a:rPr>
              <a:t>UniLaSalle</a:t>
            </a:r>
            <a:endParaRPr sz="2400" dirty="0">
              <a:cs typeface="Arial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DDD98431-9F5D-4D56-A399-A0FA7E62E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2</a:t>
            </a:fld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46F647E-AFBC-4A04-AB8F-992EE6CB3A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194009"/>
            <a:ext cx="12192000" cy="286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865AC01F-7610-470B-A789-544BC1D28B17}"/>
              </a:ext>
            </a:extLst>
          </p:cNvPr>
          <p:cNvGrpSpPr/>
          <p:nvPr/>
        </p:nvGrpSpPr>
        <p:grpSpPr>
          <a:xfrm>
            <a:off x="278765" y="313227"/>
            <a:ext cx="11634469" cy="769441"/>
            <a:chOff x="285750" y="361394"/>
            <a:chExt cx="11634469" cy="769441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981283F4-FADE-4B1F-BAFA-A53E07ACFE7A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" y="774133"/>
              <a:ext cx="2257630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0F001C35-AE3E-4B25-BCBA-9EE9BEF3526F}"/>
                </a:ext>
              </a:extLst>
            </p:cNvPr>
            <p:cNvSpPr txBox="1"/>
            <p:nvPr/>
          </p:nvSpPr>
          <p:spPr>
            <a:xfrm>
              <a:off x="2543380" y="361394"/>
              <a:ext cx="69719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400" cap="small" dirty="0">
                  <a:solidFill>
                    <a:srgbClr val="92D050"/>
                  </a:solidFill>
                </a:rPr>
                <a:t>Un concept centré utilisateur</a:t>
              </a:r>
            </a:p>
          </p:txBody>
        </p: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14F434E0-72D8-46BB-B7DC-9FB490311C55}"/>
                </a:ext>
              </a:extLst>
            </p:cNvPr>
            <p:cNvCxnSpPr>
              <a:cxnSpLocks/>
            </p:cNvCxnSpPr>
            <p:nvPr/>
          </p:nvCxnSpPr>
          <p:spPr>
            <a:xfrm>
              <a:off x="9515310" y="774133"/>
              <a:ext cx="2404909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0" name="object 14">
            <a:extLst>
              <a:ext uri="{FF2B5EF4-FFF2-40B4-BE49-F238E27FC236}">
                <a16:creationId xmlns:a16="http://schemas.microsoft.com/office/drawing/2014/main" id="{A5606456-EFB5-45D2-BEC9-345F735D764D}"/>
              </a:ext>
            </a:extLst>
          </p:cNvPr>
          <p:cNvSpPr txBox="1"/>
          <p:nvPr/>
        </p:nvSpPr>
        <p:spPr>
          <a:xfrm>
            <a:off x="708968" y="1202761"/>
            <a:ext cx="10774064" cy="80278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00"/>
              </a:spcBef>
            </a:pPr>
            <a:r>
              <a:rPr lang="fr-FR" sz="2400" spc="15" dirty="0">
                <a:cs typeface="Arial"/>
              </a:rPr>
              <a:t>U</a:t>
            </a:r>
            <a:r>
              <a:rPr sz="2400" spc="15" dirty="0">
                <a:cs typeface="Arial"/>
              </a:rPr>
              <a:t>n </a:t>
            </a:r>
            <a:r>
              <a:rPr sz="2400" spc="5" dirty="0">
                <a:cs typeface="Arial"/>
              </a:rPr>
              <a:t>lieu </a:t>
            </a:r>
            <a:r>
              <a:rPr sz="2400" spc="10" dirty="0">
                <a:cs typeface="Arial"/>
              </a:rPr>
              <a:t>unique</a:t>
            </a:r>
            <a:r>
              <a:rPr lang="fr-FR" sz="2400" spc="10" dirty="0">
                <a:cs typeface="Arial"/>
              </a:rPr>
              <a:t> pour</a:t>
            </a:r>
            <a:r>
              <a:rPr sz="2400" spc="10" dirty="0">
                <a:cs typeface="Arial"/>
              </a:rPr>
              <a:t> </a:t>
            </a:r>
            <a:r>
              <a:rPr sz="2400" b="1" spc="10" dirty="0" err="1">
                <a:cs typeface="Arial"/>
              </a:rPr>
              <a:t>l’innovation</a:t>
            </a:r>
            <a:r>
              <a:rPr sz="2400" b="1" spc="-70" dirty="0">
                <a:cs typeface="Arial"/>
              </a:rPr>
              <a:t> </a:t>
            </a:r>
            <a:r>
              <a:rPr sz="2400" b="1" spc="15" dirty="0" err="1">
                <a:cs typeface="Arial"/>
              </a:rPr>
              <a:t>mutualisée</a:t>
            </a:r>
            <a:r>
              <a:rPr lang="fr-FR" sz="2400" b="1" dirty="0">
                <a:cs typeface="Arial"/>
              </a:rPr>
              <a:t> </a:t>
            </a:r>
            <a:r>
              <a:rPr sz="2400" spc="15" dirty="0">
                <a:cs typeface="Arial"/>
              </a:rPr>
              <a:t>à </a:t>
            </a:r>
            <a:r>
              <a:rPr sz="2400" spc="10" dirty="0">
                <a:cs typeface="Arial"/>
              </a:rPr>
              <a:t>destination </a:t>
            </a:r>
            <a:r>
              <a:rPr sz="2400" b="1" spc="10" dirty="0">
                <a:cs typeface="Arial"/>
              </a:rPr>
              <a:t>des agriculteurs </a:t>
            </a:r>
            <a:r>
              <a:rPr sz="2400" b="1" spc="5" dirty="0">
                <a:cs typeface="Arial"/>
              </a:rPr>
              <a:t>et </a:t>
            </a:r>
            <a:r>
              <a:rPr sz="2400" b="1" spc="15" dirty="0">
                <a:cs typeface="Arial"/>
              </a:rPr>
              <a:t>de </a:t>
            </a:r>
            <a:r>
              <a:rPr sz="2400" b="1" spc="10" dirty="0">
                <a:cs typeface="Arial"/>
              </a:rPr>
              <a:t>leurs partenaires, </a:t>
            </a:r>
            <a:r>
              <a:rPr sz="2400" spc="10" dirty="0">
                <a:cs typeface="Arial"/>
              </a:rPr>
              <a:t>leur permettant </a:t>
            </a:r>
            <a:r>
              <a:rPr sz="2400" b="1" spc="10" dirty="0">
                <a:cs typeface="Arial"/>
              </a:rPr>
              <a:t>d’innover  </a:t>
            </a:r>
            <a:r>
              <a:rPr sz="2400" b="1" spc="15" dirty="0">
                <a:cs typeface="Arial"/>
              </a:rPr>
              <a:t>par </a:t>
            </a:r>
            <a:r>
              <a:rPr sz="2400" spc="10" dirty="0">
                <a:cs typeface="Arial"/>
              </a:rPr>
              <a:t>et </a:t>
            </a:r>
            <a:r>
              <a:rPr sz="2400" b="1" spc="15" dirty="0">
                <a:cs typeface="Arial"/>
              </a:rPr>
              <a:t>pour</a:t>
            </a:r>
            <a:r>
              <a:rPr sz="2400" b="1" spc="-45" dirty="0">
                <a:cs typeface="Arial"/>
              </a:rPr>
              <a:t> </a:t>
            </a:r>
            <a:r>
              <a:rPr sz="2400" b="1" spc="15" dirty="0" err="1">
                <a:cs typeface="Arial"/>
              </a:rPr>
              <a:t>eux-mêmes</a:t>
            </a:r>
            <a:r>
              <a:rPr sz="2400" b="1" spc="15" dirty="0">
                <a:cs typeface="Arial"/>
              </a:rPr>
              <a:t>.</a:t>
            </a:r>
            <a:endParaRPr sz="2400" dirty="0">
              <a:cs typeface="Arial"/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161416AE-906A-40E0-B9AE-C34A7D9AAAE7}"/>
              </a:ext>
            </a:extLst>
          </p:cNvPr>
          <p:cNvGrpSpPr/>
          <p:nvPr/>
        </p:nvGrpSpPr>
        <p:grpSpPr>
          <a:xfrm>
            <a:off x="8205788" y="2672839"/>
            <a:ext cx="3609975" cy="3609975"/>
            <a:chOff x="3681561" y="1783366"/>
            <a:chExt cx="3609975" cy="3609975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EFEEBE2D-5AF2-4F5F-93AD-F0566825A0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537924" y="2057135"/>
              <a:ext cx="600570" cy="1206831"/>
            </a:xfrm>
            <a:prstGeom prst="rect">
              <a:avLst/>
            </a:prstGeom>
            <a:ln w="57150" cap="sq" cmpd="thickThin">
              <a:solidFill>
                <a:srgbClr val="000000"/>
              </a:solidFill>
              <a:prstDash val="solid"/>
              <a:miter lim="800000"/>
            </a:ln>
            <a:effectLst>
              <a:innerShdw blurRad="76200">
                <a:srgbClr val="000000"/>
              </a:innerShdw>
            </a:effectLst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A9B449B5-603A-4D32-ACF7-5EDCB7DA68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44"/>
            <a:stretch/>
          </p:blipFill>
          <p:spPr>
            <a:xfrm>
              <a:off x="3976076" y="2801928"/>
              <a:ext cx="1218902" cy="784204"/>
            </a:xfrm>
            <a:prstGeom prst="rect">
              <a:avLst/>
            </a:prstGeom>
            <a:ln w="57150" cap="sq" cmpd="thickThin">
              <a:solidFill>
                <a:srgbClr val="000000"/>
              </a:solidFill>
              <a:prstDash val="solid"/>
              <a:miter lim="800000"/>
            </a:ln>
            <a:effectLst>
              <a:innerShdw blurRad="76200">
                <a:srgbClr val="000000"/>
              </a:innerShdw>
            </a:effectLst>
          </p:spPr>
        </p:pic>
        <p:pic>
          <p:nvPicPr>
            <p:cNvPr id="14" name="Picture 2" descr="Image associÃ©e">
              <a:extLst>
                <a:ext uri="{FF2B5EF4-FFF2-40B4-BE49-F238E27FC236}">
                  <a16:creationId xmlns:a16="http://schemas.microsoft.com/office/drawing/2014/main" id="{A353560F-B00F-42CD-8DE4-72FDC30F20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8209" y="3429000"/>
              <a:ext cx="990600" cy="990600"/>
            </a:xfrm>
            <a:prstGeom prst="rect">
              <a:avLst/>
            </a:prstGeom>
            <a:ln w="76200" cap="sq" cmpd="thickThin">
              <a:solidFill>
                <a:srgbClr val="000000"/>
              </a:solidFill>
              <a:prstDash val="solid"/>
              <a:miter lim="800000"/>
            </a:ln>
            <a:effectLst>
              <a:innerShdw blurRad="76200">
                <a:srgbClr val="000000"/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RÃ©sultat de recherche d'images pour &quot;logo biÃ¨re&quot;">
              <a:extLst>
                <a:ext uri="{FF2B5EF4-FFF2-40B4-BE49-F238E27FC236}">
                  <a16:creationId xmlns:a16="http://schemas.microsoft.com/office/drawing/2014/main" id="{FDF13372-AEC4-436D-88C4-0D5A02EBC0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571676" y="3792666"/>
              <a:ext cx="1072523" cy="1056034"/>
            </a:xfrm>
            <a:prstGeom prst="rect">
              <a:avLst/>
            </a:prstGeom>
            <a:ln w="76200" cap="sq" cmpd="thickThin">
              <a:solidFill>
                <a:srgbClr val="000000"/>
              </a:solidFill>
              <a:prstDash val="solid"/>
              <a:miter lim="800000"/>
            </a:ln>
            <a:effectLst>
              <a:innerShdw blurRad="76200">
                <a:srgbClr val="000000"/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B3266EDC-C659-4FF9-984D-3530FC6B3F48}"/>
                </a:ext>
              </a:extLst>
            </p:cNvPr>
            <p:cNvSpPr/>
            <p:nvPr/>
          </p:nvSpPr>
          <p:spPr>
            <a:xfrm>
              <a:off x="3681561" y="1783366"/>
              <a:ext cx="3609975" cy="3609975"/>
            </a:xfrm>
            <a:prstGeom prst="ellipse">
              <a:avLst/>
            </a:prstGeom>
            <a:noFill/>
            <a:ln w="571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85D1781F-2C63-4B1B-809C-655A20C6CA47}"/>
              </a:ext>
            </a:extLst>
          </p:cNvPr>
          <p:cNvSpPr txBox="1"/>
          <p:nvPr/>
        </p:nvSpPr>
        <p:spPr>
          <a:xfrm>
            <a:off x="708968" y="2672839"/>
            <a:ext cx="682179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fr-FR" sz="2000" spc="5" dirty="0">
                <a:cs typeface="Arial"/>
              </a:rPr>
              <a:t>L’innovation </a:t>
            </a:r>
            <a:r>
              <a:rPr lang="fr-FR" sz="2000" spc="15" dirty="0">
                <a:cs typeface="Arial"/>
              </a:rPr>
              <a:t>au </a:t>
            </a:r>
            <a:r>
              <a:rPr lang="fr-FR" sz="2000" spc="10" dirty="0">
                <a:cs typeface="Arial"/>
              </a:rPr>
              <a:t>sein d’AgriLab </a:t>
            </a:r>
            <a:r>
              <a:rPr lang="fr-FR" sz="2000" spc="15" dirty="0">
                <a:cs typeface="Arial"/>
              </a:rPr>
              <a:t>a </a:t>
            </a:r>
            <a:r>
              <a:rPr lang="fr-FR" sz="2000" spc="10" dirty="0">
                <a:cs typeface="Arial"/>
              </a:rPr>
              <a:t>pour</a:t>
            </a:r>
            <a:r>
              <a:rPr lang="fr-FR" sz="2000" spc="-55" dirty="0">
                <a:cs typeface="Arial"/>
              </a:rPr>
              <a:t> </a:t>
            </a:r>
            <a:r>
              <a:rPr lang="fr-FR" sz="2000" spc="10" dirty="0">
                <a:cs typeface="Arial"/>
              </a:rPr>
              <a:t>objet:</a:t>
            </a:r>
            <a:endParaRPr lang="fr-FR" sz="2000" dirty="0"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000" dirty="0">
              <a:cs typeface="Times New Roman"/>
            </a:endParaRPr>
          </a:p>
          <a:p>
            <a:pPr marL="312420" indent="-299720">
              <a:lnSpc>
                <a:spcPct val="100000"/>
              </a:lnSpc>
              <a:buFont typeface="Wingdings"/>
              <a:buChar char=""/>
              <a:tabLst>
                <a:tab pos="312420" algn="l"/>
                <a:tab pos="313055" algn="l"/>
              </a:tabLst>
            </a:pPr>
            <a:r>
              <a:rPr lang="fr-FR" sz="2000" spc="10" dirty="0">
                <a:cs typeface="Arial"/>
              </a:rPr>
              <a:t>Les </a:t>
            </a:r>
            <a:r>
              <a:rPr lang="fr-FR" sz="2000" b="1" spc="10" dirty="0">
                <a:cs typeface="Arial"/>
              </a:rPr>
              <a:t>exploitations agricoles </a:t>
            </a:r>
            <a:r>
              <a:rPr lang="fr-FR" sz="2000" spc="10" dirty="0">
                <a:cs typeface="Arial"/>
              </a:rPr>
              <a:t>(productions végétales et animales, </a:t>
            </a:r>
            <a:r>
              <a:rPr lang="fr-FR" sz="2000" spc="15" dirty="0">
                <a:cs typeface="Arial"/>
              </a:rPr>
              <a:t>amont </a:t>
            </a:r>
            <a:r>
              <a:rPr lang="fr-FR" sz="2000" spc="10" dirty="0">
                <a:cs typeface="Arial"/>
              </a:rPr>
              <a:t>et</a:t>
            </a:r>
            <a:r>
              <a:rPr lang="fr-FR" sz="2000" spc="-40" dirty="0">
                <a:cs typeface="Arial"/>
              </a:rPr>
              <a:t> </a:t>
            </a:r>
            <a:r>
              <a:rPr lang="fr-FR" sz="2000" spc="10" dirty="0">
                <a:cs typeface="Arial"/>
              </a:rPr>
              <a:t>aval)</a:t>
            </a:r>
            <a:endParaRPr lang="fr-FR" sz="2000" dirty="0">
              <a:cs typeface="Arial"/>
            </a:endParaRPr>
          </a:p>
          <a:p>
            <a:pPr marL="312420" indent="-299720">
              <a:lnSpc>
                <a:spcPct val="100000"/>
              </a:lnSpc>
              <a:spcBef>
                <a:spcPts val="420"/>
              </a:spcBef>
              <a:buFont typeface="Wingdings"/>
              <a:buChar char=""/>
              <a:tabLst>
                <a:tab pos="312420" algn="l"/>
                <a:tab pos="313055" algn="l"/>
              </a:tabLst>
            </a:pPr>
            <a:r>
              <a:rPr lang="fr-FR" sz="2000" spc="10" dirty="0">
                <a:cs typeface="Arial"/>
              </a:rPr>
              <a:t>Les </a:t>
            </a:r>
            <a:r>
              <a:rPr lang="fr-FR" sz="2000" b="1" spc="10" dirty="0">
                <a:cs typeface="Arial"/>
              </a:rPr>
              <a:t>nouveaux </a:t>
            </a:r>
            <a:r>
              <a:rPr lang="fr-FR" sz="2000" b="1" spc="15" dirty="0">
                <a:cs typeface="Arial"/>
              </a:rPr>
              <a:t>produits </a:t>
            </a:r>
            <a:r>
              <a:rPr lang="fr-FR" sz="2000" b="1" spc="10" dirty="0">
                <a:cs typeface="Arial"/>
              </a:rPr>
              <a:t>agricoles </a:t>
            </a:r>
            <a:r>
              <a:rPr lang="fr-FR" sz="2000" spc="10" dirty="0">
                <a:cs typeface="Arial"/>
              </a:rPr>
              <a:t>(alimentaires et </a:t>
            </a:r>
            <a:r>
              <a:rPr lang="fr-FR" sz="2000" spc="15" dirty="0">
                <a:cs typeface="Arial"/>
              </a:rPr>
              <a:t>non</a:t>
            </a:r>
            <a:r>
              <a:rPr lang="fr-FR" sz="2000" spc="-90" dirty="0">
                <a:cs typeface="Arial"/>
              </a:rPr>
              <a:t> </a:t>
            </a:r>
            <a:r>
              <a:rPr lang="fr-FR" sz="2000" spc="10" dirty="0">
                <a:cs typeface="Arial"/>
              </a:rPr>
              <a:t>alimentaires)</a:t>
            </a:r>
            <a:endParaRPr lang="fr-FR" sz="2000" dirty="0">
              <a:cs typeface="Arial"/>
            </a:endParaRPr>
          </a:p>
          <a:p>
            <a:pPr marL="312420" indent="-299720">
              <a:lnSpc>
                <a:spcPct val="100000"/>
              </a:lnSpc>
              <a:spcBef>
                <a:spcPts val="409"/>
              </a:spcBef>
              <a:buFont typeface="Wingdings"/>
              <a:buChar char=""/>
              <a:tabLst>
                <a:tab pos="312420" algn="l"/>
                <a:tab pos="313055" algn="l"/>
              </a:tabLst>
            </a:pPr>
            <a:r>
              <a:rPr lang="fr-FR" sz="2000" spc="10" dirty="0">
                <a:cs typeface="Arial"/>
              </a:rPr>
              <a:t>Les procédés </a:t>
            </a:r>
            <a:r>
              <a:rPr lang="fr-FR" sz="2000" spc="15" dirty="0">
                <a:cs typeface="Arial"/>
              </a:rPr>
              <a:t>de </a:t>
            </a:r>
            <a:r>
              <a:rPr lang="fr-FR" sz="2000" b="1" spc="10" dirty="0">
                <a:cs typeface="Arial"/>
              </a:rPr>
              <a:t>première </a:t>
            </a:r>
            <a:r>
              <a:rPr lang="fr-FR" sz="2000" b="1" spc="15" dirty="0">
                <a:cs typeface="Arial"/>
              </a:rPr>
              <a:t>transformation </a:t>
            </a:r>
            <a:r>
              <a:rPr lang="fr-FR" sz="2000" spc="10" dirty="0">
                <a:cs typeface="Arial"/>
              </a:rPr>
              <a:t>dans les exploitations</a:t>
            </a:r>
            <a:r>
              <a:rPr lang="fr-FR" sz="2000" spc="-95" dirty="0">
                <a:cs typeface="Arial"/>
              </a:rPr>
              <a:t> </a:t>
            </a:r>
            <a:r>
              <a:rPr lang="fr-FR" sz="2000" spc="10" dirty="0">
                <a:cs typeface="Arial"/>
              </a:rPr>
              <a:t>agricoles</a:t>
            </a:r>
            <a:endParaRPr lang="fr-FR" sz="2000" dirty="0">
              <a:cs typeface="Arial"/>
            </a:endParaRPr>
          </a:p>
          <a:p>
            <a:pPr marL="312420" indent="-299720">
              <a:lnSpc>
                <a:spcPct val="100000"/>
              </a:lnSpc>
              <a:spcBef>
                <a:spcPts val="420"/>
              </a:spcBef>
              <a:buFont typeface="Wingdings"/>
              <a:buChar char=""/>
              <a:tabLst>
                <a:tab pos="312420" algn="l"/>
                <a:tab pos="313055" algn="l"/>
              </a:tabLst>
            </a:pPr>
            <a:r>
              <a:rPr lang="fr-FR" sz="2000" spc="10" dirty="0">
                <a:cs typeface="Arial"/>
              </a:rPr>
              <a:t>Les </a:t>
            </a:r>
            <a:r>
              <a:rPr lang="fr-FR" sz="2000" b="1" spc="15" dirty="0">
                <a:cs typeface="Arial"/>
              </a:rPr>
              <a:t>énergies </a:t>
            </a:r>
            <a:r>
              <a:rPr lang="fr-FR" sz="2000" b="1" spc="10" dirty="0">
                <a:cs typeface="Arial"/>
              </a:rPr>
              <a:t>renouvelables </a:t>
            </a:r>
            <a:r>
              <a:rPr lang="fr-FR" sz="2000" spc="10" dirty="0">
                <a:cs typeface="Arial"/>
              </a:rPr>
              <a:t>dans les exploitations</a:t>
            </a:r>
            <a:r>
              <a:rPr lang="fr-FR" sz="2000" spc="-70" dirty="0">
                <a:cs typeface="Arial"/>
              </a:rPr>
              <a:t> </a:t>
            </a:r>
            <a:r>
              <a:rPr lang="fr-FR" sz="2000" spc="10" dirty="0">
                <a:cs typeface="Arial"/>
              </a:rPr>
              <a:t>agricoles</a:t>
            </a:r>
            <a:endParaRPr lang="fr-FR" sz="2000" dirty="0">
              <a:cs typeface="Arial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1A85D1A-6938-4EB5-B0EB-239B3AF7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62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865AC01F-7610-470B-A789-544BC1D28B17}"/>
              </a:ext>
            </a:extLst>
          </p:cNvPr>
          <p:cNvGrpSpPr/>
          <p:nvPr/>
        </p:nvGrpSpPr>
        <p:grpSpPr>
          <a:xfrm>
            <a:off x="278765" y="313227"/>
            <a:ext cx="11634469" cy="769441"/>
            <a:chOff x="285750" y="361394"/>
            <a:chExt cx="11634469" cy="769441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981283F4-FADE-4B1F-BAFA-A53E07ACFE7A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" y="774133"/>
              <a:ext cx="2257630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0F001C35-AE3E-4B25-BCBA-9EE9BEF3526F}"/>
                </a:ext>
              </a:extLst>
            </p:cNvPr>
            <p:cNvSpPr txBox="1"/>
            <p:nvPr/>
          </p:nvSpPr>
          <p:spPr>
            <a:xfrm>
              <a:off x="2543380" y="361394"/>
              <a:ext cx="69719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4400" dirty="0">
                <a:solidFill>
                  <a:srgbClr val="92D050"/>
                </a:solidFill>
              </a:endParaRPr>
            </a:p>
          </p:txBody>
        </p: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14F434E0-72D8-46BB-B7DC-9FB490311C55}"/>
                </a:ext>
              </a:extLst>
            </p:cNvPr>
            <p:cNvCxnSpPr>
              <a:cxnSpLocks/>
            </p:cNvCxnSpPr>
            <p:nvPr/>
          </p:nvCxnSpPr>
          <p:spPr>
            <a:xfrm>
              <a:off x="9515310" y="774133"/>
              <a:ext cx="2404909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7" name="object 2">
            <a:extLst>
              <a:ext uri="{FF2B5EF4-FFF2-40B4-BE49-F238E27FC236}">
                <a16:creationId xmlns:a16="http://schemas.microsoft.com/office/drawing/2014/main" id="{373B7D1F-BA7D-4F23-BA66-0F547CD000C7}"/>
              </a:ext>
            </a:extLst>
          </p:cNvPr>
          <p:cNvSpPr txBox="1"/>
          <p:nvPr/>
        </p:nvSpPr>
        <p:spPr>
          <a:xfrm>
            <a:off x="2335702" y="97710"/>
            <a:ext cx="73644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lang="fr-FR" sz="3600" cap="small" dirty="0">
                <a:solidFill>
                  <a:srgbClr val="92D050"/>
                </a:solidFill>
              </a:rPr>
              <a:t>A</a:t>
            </a:r>
            <a:r>
              <a:rPr sz="3600" cap="small" dirty="0" err="1">
                <a:solidFill>
                  <a:srgbClr val="92D050"/>
                </a:solidFill>
              </a:rPr>
              <a:t>utour</a:t>
            </a:r>
            <a:r>
              <a:rPr sz="3600" cap="small" dirty="0">
                <a:solidFill>
                  <a:srgbClr val="92D050"/>
                </a:solidFill>
              </a:rPr>
              <a:t> des fermes du </a:t>
            </a:r>
            <a:r>
              <a:rPr sz="3600" cap="small" dirty="0" err="1">
                <a:solidFill>
                  <a:srgbClr val="92D050"/>
                </a:solidFill>
              </a:rPr>
              <a:t>futur</a:t>
            </a:r>
            <a:r>
              <a:rPr lang="fr-FR" sz="3600" cap="small" dirty="0">
                <a:solidFill>
                  <a:srgbClr val="92D050"/>
                </a:solidFill>
              </a:rPr>
              <a:t> et de</a:t>
            </a:r>
            <a:endParaRPr sz="3600" cap="small" dirty="0">
              <a:solidFill>
                <a:srgbClr val="92D050"/>
              </a:solidFill>
            </a:endParaRPr>
          </a:p>
          <a:p>
            <a:pPr algn="ctr">
              <a:lnSpc>
                <a:spcPct val="100000"/>
              </a:lnSpc>
            </a:pPr>
            <a:r>
              <a:rPr sz="3600" cap="small" dirty="0">
                <a:solidFill>
                  <a:srgbClr val="92D050"/>
                </a:solidFill>
              </a:rPr>
              <a:t>la 3ème révolution du numérique</a:t>
            </a: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2060DCA7-10C0-4518-B439-05B8C68041D1}"/>
              </a:ext>
            </a:extLst>
          </p:cNvPr>
          <p:cNvSpPr/>
          <p:nvPr/>
        </p:nvSpPr>
        <p:spPr>
          <a:xfrm>
            <a:off x="624326" y="3394805"/>
            <a:ext cx="5109122" cy="33009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758F495-83C7-4C3E-8CE5-56D95A453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6848" y="3394805"/>
            <a:ext cx="5444603" cy="326676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F1CFD22-E870-4D9A-B1F0-BCF08D5B250B}"/>
              </a:ext>
            </a:extLst>
          </p:cNvPr>
          <p:cNvSpPr/>
          <p:nvPr/>
        </p:nvSpPr>
        <p:spPr>
          <a:xfrm>
            <a:off x="757675" y="1663653"/>
            <a:ext cx="10053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b="0" i="0" u="none" strike="noStrike" dirty="0">
                <a:solidFill>
                  <a:srgbClr val="333333"/>
                </a:solidFill>
                <a:effectLst/>
              </a:rPr>
              <a:t>1</a:t>
            </a:r>
            <a:r>
              <a:rPr lang="fr-FR" sz="2000" b="0" i="0" u="none" strike="noStrike" baseline="30000" dirty="0">
                <a:solidFill>
                  <a:srgbClr val="333333"/>
                </a:solidFill>
                <a:effectLst/>
              </a:rPr>
              <a:t>ère</a:t>
            </a:r>
            <a:r>
              <a:rPr lang="fr-FR" sz="2000" b="0" i="0" u="none" strike="noStrike" dirty="0">
                <a:solidFill>
                  <a:srgbClr val="333333"/>
                </a:solidFill>
                <a:effectLst/>
              </a:rPr>
              <a:t> révolution : page internet figée (type page html)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b="0" i="0" u="none" strike="noStrike" dirty="0">
                <a:solidFill>
                  <a:srgbClr val="333333"/>
                </a:solidFill>
                <a:effectLst/>
              </a:rPr>
              <a:t>2</a:t>
            </a:r>
            <a:r>
              <a:rPr lang="fr-FR" sz="2000" b="0" i="0" u="none" strike="noStrike" baseline="30000" dirty="0">
                <a:solidFill>
                  <a:srgbClr val="333333"/>
                </a:solidFill>
                <a:effectLst/>
              </a:rPr>
              <a:t>ème</a:t>
            </a:r>
            <a:r>
              <a:rPr lang="fr-FR" sz="2000" b="0" i="0" u="none" strike="noStrike" dirty="0">
                <a:solidFill>
                  <a:srgbClr val="333333"/>
                </a:solidFill>
                <a:effectLst/>
              </a:rPr>
              <a:t> révolution : interaction homme-homme (type page Facebook)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333333"/>
                </a:solidFill>
              </a:rPr>
              <a:t>3</a:t>
            </a:r>
            <a:r>
              <a:rPr lang="fr-FR" sz="2000" baseline="30000" dirty="0">
                <a:solidFill>
                  <a:srgbClr val="333333"/>
                </a:solidFill>
              </a:rPr>
              <a:t>ème</a:t>
            </a:r>
            <a:r>
              <a:rPr lang="fr-FR" sz="2000" dirty="0">
                <a:solidFill>
                  <a:srgbClr val="333333"/>
                </a:solidFill>
              </a:rPr>
              <a:t> révolution : interaction machine-machine (internet des objets)</a:t>
            </a:r>
            <a:br>
              <a:rPr lang="fr-FR" sz="2000" b="0" i="0" u="none" strike="noStrike" dirty="0">
                <a:solidFill>
                  <a:srgbClr val="333333"/>
                </a:solidFill>
                <a:effectLst/>
              </a:rPr>
            </a:br>
            <a:endParaRPr lang="fr-FR" sz="2000" b="0" i="0" u="none" strike="noStrike" dirty="0">
              <a:solidFill>
                <a:srgbClr val="333333"/>
              </a:solidFill>
              <a:effectLst/>
            </a:endParaRP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0A5C6853-76B0-46F7-8220-72616C91E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2492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B755FA58-0615-4983-BF92-7F2492CEF853}"/>
              </a:ext>
            </a:extLst>
          </p:cNvPr>
          <p:cNvGrpSpPr/>
          <p:nvPr/>
        </p:nvGrpSpPr>
        <p:grpSpPr>
          <a:xfrm>
            <a:off x="278765" y="313227"/>
            <a:ext cx="11634469" cy="769441"/>
            <a:chOff x="285750" y="361394"/>
            <a:chExt cx="11634469" cy="769441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AA7AE65-E4E4-4D9C-A108-0D9093EFE1AA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" y="774133"/>
              <a:ext cx="2257630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F84870E-5429-421C-A4AA-BF514F7DA660}"/>
                </a:ext>
              </a:extLst>
            </p:cNvPr>
            <p:cNvSpPr txBox="1"/>
            <p:nvPr/>
          </p:nvSpPr>
          <p:spPr>
            <a:xfrm>
              <a:off x="2543380" y="361394"/>
              <a:ext cx="69719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400" dirty="0">
                  <a:solidFill>
                    <a:srgbClr val="92D050"/>
                  </a:solidFill>
                </a:rPr>
                <a:t>AgriLab : Innovation ouverte</a:t>
              </a:r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71CC221A-96C4-4AB9-9C42-BFB754805FE0}"/>
                </a:ext>
              </a:extLst>
            </p:cNvPr>
            <p:cNvCxnSpPr>
              <a:cxnSpLocks/>
            </p:cNvCxnSpPr>
            <p:nvPr/>
          </p:nvCxnSpPr>
          <p:spPr>
            <a:xfrm>
              <a:off x="9515310" y="774133"/>
              <a:ext cx="2404909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7" name="Ellipse 36">
            <a:extLst>
              <a:ext uri="{FF2B5EF4-FFF2-40B4-BE49-F238E27FC236}">
                <a16:creationId xmlns:a16="http://schemas.microsoft.com/office/drawing/2014/main" id="{25669B11-D887-4380-B0F6-4EB119403BF3}"/>
              </a:ext>
            </a:extLst>
          </p:cNvPr>
          <p:cNvSpPr/>
          <p:nvPr/>
        </p:nvSpPr>
        <p:spPr>
          <a:xfrm>
            <a:off x="4291013" y="1783366"/>
            <a:ext cx="3609975" cy="3609975"/>
          </a:xfrm>
          <a:prstGeom prst="ellipse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C5352-13F5-466B-92A3-1B59730969F3}"/>
              </a:ext>
            </a:extLst>
          </p:cNvPr>
          <p:cNvSpPr/>
          <p:nvPr/>
        </p:nvSpPr>
        <p:spPr>
          <a:xfrm>
            <a:off x="4486274" y="2680412"/>
            <a:ext cx="321945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/>
              <a:t>Process/ plans de fabrication et résultats accessibles à tous sur internet</a:t>
            </a:r>
          </a:p>
        </p:txBody>
      </p:sp>
      <p:sp>
        <p:nvSpPr>
          <p:cNvPr id="39" name="Flèche : courbe vers le haut 38">
            <a:extLst>
              <a:ext uri="{FF2B5EF4-FFF2-40B4-BE49-F238E27FC236}">
                <a16:creationId xmlns:a16="http://schemas.microsoft.com/office/drawing/2014/main" id="{A58CB982-508D-442D-B5E7-6016AA391175}"/>
              </a:ext>
            </a:extLst>
          </p:cNvPr>
          <p:cNvSpPr/>
          <p:nvPr/>
        </p:nvSpPr>
        <p:spPr>
          <a:xfrm rot="11770389">
            <a:off x="3324373" y="1283865"/>
            <a:ext cx="1789709" cy="467112"/>
          </a:xfrm>
          <a:prstGeom prst="curved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9D22DB7-BF7E-48F5-9E84-8BE80F9C507D}"/>
              </a:ext>
            </a:extLst>
          </p:cNvPr>
          <p:cNvSpPr txBox="1"/>
          <p:nvPr/>
        </p:nvSpPr>
        <p:spPr>
          <a:xfrm>
            <a:off x="1596351" y="1529667"/>
            <a:ext cx="27717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Gagner du temps et de l’argent (droits d’auteur, pas de brevet)</a:t>
            </a:r>
          </a:p>
        </p:txBody>
      </p:sp>
      <p:sp>
        <p:nvSpPr>
          <p:cNvPr id="44" name="Flèche : courbe vers la droite 43">
            <a:extLst>
              <a:ext uri="{FF2B5EF4-FFF2-40B4-BE49-F238E27FC236}">
                <a16:creationId xmlns:a16="http://schemas.microsoft.com/office/drawing/2014/main" id="{5AFAF1E5-7858-4015-A586-91C7C1B4D4FD}"/>
              </a:ext>
            </a:extLst>
          </p:cNvPr>
          <p:cNvSpPr/>
          <p:nvPr/>
        </p:nvSpPr>
        <p:spPr>
          <a:xfrm rot="20714926">
            <a:off x="4421113" y="5064814"/>
            <a:ext cx="447189" cy="1334989"/>
          </a:xfrm>
          <a:prstGeom prst="curv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5" name="Flèche : courbe vers le haut 44">
            <a:extLst>
              <a:ext uri="{FF2B5EF4-FFF2-40B4-BE49-F238E27FC236}">
                <a16:creationId xmlns:a16="http://schemas.microsoft.com/office/drawing/2014/main" id="{C93452C5-50B9-48A7-817A-DA4A84254872}"/>
              </a:ext>
            </a:extLst>
          </p:cNvPr>
          <p:cNvSpPr/>
          <p:nvPr/>
        </p:nvSpPr>
        <p:spPr>
          <a:xfrm rot="19503245">
            <a:off x="7947427" y="2395650"/>
            <a:ext cx="1789709" cy="467112"/>
          </a:xfrm>
          <a:prstGeom prst="curved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C82F3F2-D6EA-4AA9-A9AF-0B3FABD33661}"/>
              </a:ext>
            </a:extLst>
          </p:cNvPr>
          <p:cNvSpPr txBox="1"/>
          <p:nvPr/>
        </p:nvSpPr>
        <p:spPr>
          <a:xfrm>
            <a:off x="8297193" y="1271828"/>
            <a:ext cx="2152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Echanger des savoirs librement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4ABBA82-788E-4E8E-9840-CEAB296ABB3C}"/>
              </a:ext>
            </a:extLst>
          </p:cNvPr>
          <p:cNvSpPr txBox="1"/>
          <p:nvPr/>
        </p:nvSpPr>
        <p:spPr>
          <a:xfrm>
            <a:off x="4937787" y="5647769"/>
            <a:ext cx="26736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Développer des produits réellement attendus par le marché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0117A1F-16DC-473F-A403-D3DDA019DDBE}"/>
              </a:ext>
            </a:extLst>
          </p:cNvPr>
          <p:cNvSpPr txBox="1"/>
          <p:nvPr/>
        </p:nvSpPr>
        <p:spPr>
          <a:xfrm>
            <a:off x="7974993" y="5039398"/>
            <a:ext cx="2971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Produire des biens/services localement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3A24F8C8-2816-4456-9195-7B9C1F8DFC2E}"/>
              </a:ext>
            </a:extLst>
          </p:cNvPr>
          <p:cNvSpPr txBox="1"/>
          <p:nvPr/>
        </p:nvSpPr>
        <p:spPr>
          <a:xfrm>
            <a:off x="1607157" y="4076575"/>
            <a:ext cx="2805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Réduire les coûts de fabrication (DIY)</a:t>
            </a:r>
          </a:p>
        </p:txBody>
      </p:sp>
      <p:sp>
        <p:nvSpPr>
          <p:cNvPr id="16" name="Flèche : courbe vers le bas 15">
            <a:extLst>
              <a:ext uri="{FF2B5EF4-FFF2-40B4-BE49-F238E27FC236}">
                <a16:creationId xmlns:a16="http://schemas.microsoft.com/office/drawing/2014/main" id="{9F5EB509-EDD4-42E8-900A-E41CC6B1DB8E}"/>
              </a:ext>
            </a:extLst>
          </p:cNvPr>
          <p:cNvSpPr/>
          <p:nvPr/>
        </p:nvSpPr>
        <p:spPr>
          <a:xfrm rot="1580536">
            <a:off x="7972505" y="4285177"/>
            <a:ext cx="1560190" cy="451011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Flèche : courbe vers la droite 46">
            <a:extLst>
              <a:ext uri="{FF2B5EF4-FFF2-40B4-BE49-F238E27FC236}">
                <a16:creationId xmlns:a16="http://schemas.microsoft.com/office/drawing/2014/main" id="{7B1A7FD3-97D8-4E96-94B7-6E439893AAF9}"/>
              </a:ext>
            </a:extLst>
          </p:cNvPr>
          <p:cNvSpPr/>
          <p:nvPr/>
        </p:nvSpPr>
        <p:spPr>
          <a:xfrm rot="4784082">
            <a:off x="3273132" y="3022597"/>
            <a:ext cx="447189" cy="1334989"/>
          </a:xfrm>
          <a:prstGeom prst="curv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1D48764-7209-4DCC-87CF-CDD05EAB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700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B755FA58-0615-4983-BF92-7F2492CEF853}"/>
              </a:ext>
            </a:extLst>
          </p:cNvPr>
          <p:cNvGrpSpPr/>
          <p:nvPr/>
        </p:nvGrpSpPr>
        <p:grpSpPr>
          <a:xfrm>
            <a:off x="278765" y="313227"/>
            <a:ext cx="11634469" cy="769441"/>
            <a:chOff x="285750" y="361394"/>
            <a:chExt cx="11634469" cy="769441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AA7AE65-E4E4-4D9C-A108-0D9093EFE1AA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" y="774133"/>
              <a:ext cx="2257630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F84870E-5429-421C-A4AA-BF514F7DA660}"/>
                </a:ext>
              </a:extLst>
            </p:cNvPr>
            <p:cNvSpPr txBox="1"/>
            <p:nvPr/>
          </p:nvSpPr>
          <p:spPr>
            <a:xfrm>
              <a:off x="2543380" y="361394"/>
              <a:ext cx="69719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400" dirty="0">
                  <a:solidFill>
                    <a:srgbClr val="92D050"/>
                  </a:solidFill>
                </a:rPr>
                <a:t>Le monde des </a:t>
              </a:r>
              <a:r>
                <a:rPr lang="fr-FR" sz="4400" dirty="0" err="1">
                  <a:solidFill>
                    <a:srgbClr val="92D050"/>
                  </a:solidFill>
                </a:rPr>
                <a:t>FabLabs</a:t>
              </a:r>
              <a:endParaRPr lang="fr-FR" sz="4400" dirty="0">
                <a:solidFill>
                  <a:srgbClr val="92D050"/>
                </a:solidFill>
              </a:endParaRPr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71CC221A-96C4-4AB9-9C42-BFB754805FE0}"/>
                </a:ext>
              </a:extLst>
            </p:cNvPr>
            <p:cNvCxnSpPr>
              <a:cxnSpLocks/>
            </p:cNvCxnSpPr>
            <p:nvPr/>
          </p:nvCxnSpPr>
          <p:spPr>
            <a:xfrm>
              <a:off x="9515310" y="774133"/>
              <a:ext cx="2404909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1D48764-7209-4DCC-87CF-CDD05EAB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6</a:t>
            </a:fld>
            <a:endParaRPr lang="fr-FR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09EB19E-F43E-48C1-BB05-AA0849703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6277" y="3148498"/>
            <a:ext cx="6239328" cy="35583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7248143-DA12-46AC-9B99-6ED718191FDB}"/>
              </a:ext>
            </a:extLst>
          </p:cNvPr>
          <p:cNvSpPr/>
          <p:nvPr/>
        </p:nvSpPr>
        <p:spPr>
          <a:xfrm>
            <a:off x="467360" y="1146087"/>
            <a:ext cx="115824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b="0" i="0" u="none" strike="noStrike" dirty="0" err="1">
                <a:solidFill>
                  <a:srgbClr val="333333"/>
                </a:solidFill>
                <a:effectLst/>
                <a:ea typeface="Verdana" panose="020B0604030504040204" pitchFamily="34" charset="0"/>
              </a:rPr>
              <a:t>FabLab</a:t>
            </a:r>
            <a:r>
              <a:rPr lang="fr-FR" sz="2000" b="0" i="0" u="none" strike="noStrike" dirty="0">
                <a:solidFill>
                  <a:srgbClr val="333333"/>
                </a:solidFill>
                <a:effectLst/>
                <a:ea typeface="Verdana" panose="020B0604030504040204" pitchFamily="34" charset="0"/>
              </a:rPr>
              <a:t> = </a:t>
            </a:r>
            <a:r>
              <a:rPr lang="fr-FR" sz="2000" b="0" i="0" u="none" strike="noStrike" dirty="0" err="1">
                <a:solidFill>
                  <a:srgbClr val="333333"/>
                </a:solidFill>
                <a:effectLst/>
                <a:ea typeface="Verdana" panose="020B0604030504040204" pitchFamily="34" charset="0"/>
              </a:rPr>
              <a:t>FABrication</a:t>
            </a:r>
            <a:r>
              <a:rPr lang="fr-FR" sz="2000" b="0" i="0" u="none" strike="noStrike" dirty="0">
                <a:solidFill>
                  <a:srgbClr val="333333"/>
                </a:solidFill>
                <a:effectLst/>
                <a:ea typeface="Verdana" panose="020B0604030504040204" pitchFamily="34" charset="0"/>
              </a:rPr>
              <a:t> </a:t>
            </a:r>
            <a:r>
              <a:rPr lang="fr-FR" sz="2000" b="0" i="0" u="none" strike="noStrike" dirty="0" err="1">
                <a:solidFill>
                  <a:srgbClr val="333333"/>
                </a:solidFill>
                <a:effectLst/>
                <a:ea typeface="Verdana" panose="020B0604030504040204" pitchFamily="34" charset="0"/>
              </a:rPr>
              <a:t>LABoraties</a:t>
            </a:r>
            <a:r>
              <a:rPr lang="fr-FR" sz="2000" b="0" i="0" u="none" strike="noStrike" dirty="0">
                <a:solidFill>
                  <a:srgbClr val="333333"/>
                </a:solidFill>
                <a:effectLst/>
                <a:ea typeface="Verdana" panose="020B0604030504040204" pitchFamily="34" charset="0"/>
              </a:rPr>
              <a:t>,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b="0" i="0" u="none" strike="noStrike" dirty="0">
                <a:solidFill>
                  <a:srgbClr val="333333"/>
                </a:solidFill>
                <a:effectLst/>
                <a:ea typeface="Verdana" panose="020B0604030504040204" pitchFamily="34" charset="0"/>
              </a:rPr>
              <a:t>1100 fablabs officiels dans le monde, 60 fablabs officiels en France : </a:t>
            </a:r>
            <a:r>
              <a:rPr lang="fr-FR" sz="2000" b="0" i="0" u="none" strike="noStrike" dirty="0">
                <a:solidFill>
                  <a:srgbClr val="333333"/>
                </a:solidFill>
                <a:effectLst/>
                <a:ea typeface="Verdana" panose="020B0604030504040204" pitchFamily="34" charset="0"/>
                <a:hlinkClick r:id="rId4"/>
              </a:rPr>
              <a:t>https://fablabs.io/</a:t>
            </a:r>
            <a:endParaRPr lang="fr-FR" sz="2000" b="0" i="0" u="none" strike="noStrike" dirty="0">
              <a:solidFill>
                <a:srgbClr val="333333"/>
              </a:solidFill>
              <a:effectLst/>
              <a:ea typeface="Verdana" panose="020B060403050404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333333"/>
                </a:solidFill>
                <a:ea typeface="Verdana" panose="020B0604030504040204" pitchFamily="34" charset="0"/>
              </a:rPr>
              <a:t>Différents noms pour ces espaces : fablabs, </a:t>
            </a:r>
            <a:r>
              <a:rPr lang="fr-FR" sz="2000" dirty="0" err="1">
                <a:solidFill>
                  <a:srgbClr val="333333"/>
                </a:solidFill>
                <a:ea typeface="Verdana" panose="020B0604030504040204" pitchFamily="34" charset="0"/>
              </a:rPr>
              <a:t>openlabs</a:t>
            </a:r>
            <a:r>
              <a:rPr lang="fr-FR" sz="2000" dirty="0">
                <a:solidFill>
                  <a:srgbClr val="333333"/>
                </a:solidFill>
                <a:ea typeface="Verdana" panose="020B0604030504040204" pitchFamily="34" charset="0"/>
              </a:rPr>
              <a:t>, </a:t>
            </a:r>
            <a:r>
              <a:rPr lang="fr-FR" sz="2000" dirty="0" err="1">
                <a:solidFill>
                  <a:srgbClr val="333333"/>
                </a:solidFill>
                <a:ea typeface="Verdana" panose="020B0604030504040204" pitchFamily="34" charset="0"/>
              </a:rPr>
              <a:t>makerspaces</a:t>
            </a:r>
            <a:r>
              <a:rPr lang="fr-FR" sz="2000" dirty="0">
                <a:solidFill>
                  <a:srgbClr val="333333"/>
                </a:solidFill>
                <a:ea typeface="Verdana" panose="020B0604030504040204" pitchFamily="34" charset="0"/>
              </a:rPr>
              <a:t>, tiers-lieux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b="0" i="0" u="none" strike="noStrike" dirty="0">
                <a:solidFill>
                  <a:srgbClr val="333333"/>
                </a:solidFill>
                <a:effectLst/>
                <a:ea typeface="Verdana" panose="020B0604030504040204" pitchFamily="34" charset="0"/>
              </a:rPr>
              <a:t>Vient du MIT : "Comment fabriquer à peu près tout avec un minimum de machines"</a:t>
            </a:r>
            <a:endParaRPr lang="fr-FR" sz="2000" dirty="0"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657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B755FA58-0615-4983-BF92-7F2492CEF853}"/>
              </a:ext>
            </a:extLst>
          </p:cNvPr>
          <p:cNvGrpSpPr/>
          <p:nvPr/>
        </p:nvGrpSpPr>
        <p:grpSpPr>
          <a:xfrm>
            <a:off x="278765" y="313227"/>
            <a:ext cx="11634469" cy="769441"/>
            <a:chOff x="285750" y="361394"/>
            <a:chExt cx="11634469" cy="769441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AA7AE65-E4E4-4D9C-A108-0D9093EFE1AA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" y="774133"/>
              <a:ext cx="2733675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F84870E-5429-421C-A4AA-BF514F7DA660}"/>
                </a:ext>
              </a:extLst>
            </p:cNvPr>
            <p:cNvSpPr txBox="1"/>
            <p:nvPr/>
          </p:nvSpPr>
          <p:spPr>
            <a:xfrm>
              <a:off x="3186113" y="361394"/>
              <a:ext cx="581977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400" dirty="0">
                  <a:solidFill>
                    <a:srgbClr val="92D050"/>
                  </a:solidFill>
                </a:rPr>
                <a:t>AgriLab : Les services</a:t>
              </a:r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71CC221A-96C4-4AB9-9C42-BFB754805FE0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44" y="774133"/>
              <a:ext cx="2733675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BB0F4507-5F7C-4AAB-A515-4EFD8C233571}"/>
              </a:ext>
            </a:extLst>
          </p:cNvPr>
          <p:cNvGrpSpPr/>
          <p:nvPr/>
        </p:nvGrpSpPr>
        <p:grpSpPr>
          <a:xfrm>
            <a:off x="53998" y="1525893"/>
            <a:ext cx="4914900" cy="2617815"/>
            <a:chOff x="-33157" y="1381284"/>
            <a:chExt cx="4914900" cy="2617815"/>
          </a:xfrm>
        </p:grpSpPr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8B0ADE25-9016-4EA8-AEFB-9E979FEB6079}"/>
                </a:ext>
              </a:extLst>
            </p:cNvPr>
            <p:cNvSpPr txBox="1"/>
            <p:nvPr/>
          </p:nvSpPr>
          <p:spPr>
            <a:xfrm>
              <a:off x="-33157" y="2060107"/>
              <a:ext cx="49149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14411" lvl="1" indent="-457206">
                <a:buFont typeface="Wingdings" panose="05000000000000000000" pitchFamily="2" charset="2"/>
                <a:buChar char="ü"/>
              </a:pPr>
              <a:r>
                <a:rPr lang="fr-FR" sz="2000" dirty="0"/>
                <a:t>Accès aux machines</a:t>
              </a:r>
            </a:p>
            <a:p>
              <a:pPr marL="914411" lvl="1" indent="-457206">
                <a:buFont typeface="Wingdings" panose="05000000000000000000" pitchFamily="2" charset="2"/>
                <a:buChar char="ü"/>
              </a:pPr>
              <a:r>
                <a:rPr lang="fr-FR" sz="2000" dirty="0"/>
                <a:t>Partage de connaissances</a:t>
              </a:r>
            </a:p>
            <a:p>
              <a:pPr marL="914411" lvl="1" indent="-457206">
                <a:buFont typeface="Wingdings" panose="05000000000000000000" pitchFamily="2" charset="2"/>
                <a:buChar char="ü"/>
              </a:pPr>
              <a:r>
                <a:rPr lang="fr-FR" sz="2000" dirty="0"/>
                <a:t>Ateliers thématiques/ formations</a:t>
              </a:r>
            </a:p>
            <a:p>
              <a:pPr marL="914411" lvl="1" indent="-457206">
                <a:buFont typeface="Wingdings" panose="05000000000000000000" pitchFamily="2" charset="2"/>
                <a:buChar char="ü"/>
              </a:pPr>
              <a:r>
                <a:rPr lang="fr-FR" sz="2000" dirty="0"/>
                <a:t>Lundi : 10H-18H</a:t>
              </a:r>
            </a:p>
            <a:p>
              <a:pPr marL="457205" lvl="1"/>
              <a:r>
                <a:rPr lang="fr-FR" sz="2000" dirty="0"/>
                <a:t>	Mardi : 10H-18H</a:t>
              </a:r>
            </a:p>
            <a:p>
              <a:pPr marL="457205" lvl="1"/>
              <a:r>
                <a:rPr lang="fr-FR" sz="2000" dirty="0"/>
                <a:t>	Jeudi : 14H-22H</a:t>
              </a:r>
              <a:endParaRPr lang="fr-FR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0704AA-E4B6-4C57-A1EC-B8C701D44EC0}"/>
                </a:ext>
              </a:extLst>
            </p:cNvPr>
            <p:cNvSpPr/>
            <p:nvPr/>
          </p:nvSpPr>
          <p:spPr>
            <a:xfrm>
              <a:off x="270521" y="1381284"/>
              <a:ext cx="351679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2000" b="1" u="sng" cap="small" dirty="0"/>
                <a:t>Open </a:t>
              </a:r>
              <a:r>
                <a:rPr lang="fr-FR" sz="2000" b="1" u="sng" cap="small" dirty="0" err="1"/>
                <a:t>Lab</a:t>
              </a:r>
              <a:r>
                <a:rPr lang="fr-FR" sz="2000" b="1" u="sng" cap="small" dirty="0"/>
                <a:t> </a:t>
              </a:r>
              <a:r>
                <a:rPr lang="fr-FR" sz="2000" b="1" i="1" u="sng" cap="small" dirty="0"/>
                <a:t>: </a:t>
              </a:r>
              <a:r>
                <a:rPr lang="fr-FR" sz="2000" b="1" i="1" u="sng" cap="small" dirty="0" err="1"/>
                <a:t>FabLab</a:t>
              </a:r>
              <a:r>
                <a:rPr lang="fr-FR" sz="2000" b="1" i="1" u="sng" cap="small" dirty="0"/>
                <a:t> ouvert à tous </a:t>
              </a:r>
            </a:p>
            <a:p>
              <a:r>
                <a:rPr lang="fr-FR" sz="2000" b="1" i="1" u="sng" cap="small" dirty="0"/>
                <a:t>pour 432€/an TTC (=&gt; 360€ HT) </a:t>
              </a:r>
            </a:p>
          </p:txBody>
        </p:sp>
      </p:grpSp>
      <p:pic>
        <p:nvPicPr>
          <p:cNvPr id="1030" name="Picture 6" descr="Fichier:Fab Lab logo.svg">
            <a:extLst>
              <a:ext uri="{FF2B5EF4-FFF2-40B4-BE49-F238E27FC236}">
                <a16:creationId xmlns:a16="http://schemas.microsoft.com/office/drawing/2014/main" id="{1263D6F2-A213-4D5E-8016-8462F1697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3170" y="4513049"/>
            <a:ext cx="1151322" cy="1381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e 23">
            <a:extLst>
              <a:ext uri="{FF2B5EF4-FFF2-40B4-BE49-F238E27FC236}">
                <a16:creationId xmlns:a16="http://schemas.microsoft.com/office/drawing/2014/main" id="{8E7C5A8B-0987-42DE-B9CE-A8791F691F25}"/>
              </a:ext>
            </a:extLst>
          </p:cNvPr>
          <p:cNvGrpSpPr/>
          <p:nvPr/>
        </p:nvGrpSpPr>
        <p:grpSpPr>
          <a:xfrm>
            <a:off x="5983430" y="1525893"/>
            <a:ext cx="6030943" cy="2457651"/>
            <a:chOff x="6438081" y="1322164"/>
            <a:chExt cx="6030943" cy="245765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6AC3340-2966-467B-8C59-E274002F4B32}"/>
                </a:ext>
              </a:extLst>
            </p:cNvPr>
            <p:cNvSpPr/>
            <p:nvPr/>
          </p:nvSpPr>
          <p:spPr>
            <a:xfrm>
              <a:off x="6649250" y="1322164"/>
              <a:ext cx="5819774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2000" b="1" i="1" u="sng" cap="small" dirty="0"/>
                <a:t>Private</a:t>
              </a:r>
              <a:r>
                <a:rPr lang="fr-FR" cap="small" dirty="0"/>
                <a:t> </a:t>
              </a:r>
              <a:r>
                <a:rPr lang="fr-FR" sz="2000" b="1" i="1" u="sng" cap="small" dirty="0" err="1"/>
                <a:t>Lab</a:t>
              </a:r>
              <a:r>
                <a:rPr lang="fr-FR" sz="2000" b="1" i="1" u="sng" cap="small" dirty="0"/>
                <a:t> : Expertise et conseil en ingénierie autour de l’écosystème agricole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C8AFAF4-0D75-4649-947B-9FDF353A59A8}"/>
                </a:ext>
              </a:extLst>
            </p:cNvPr>
            <p:cNvSpPr/>
            <p:nvPr/>
          </p:nvSpPr>
          <p:spPr>
            <a:xfrm>
              <a:off x="6438081" y="2148599"/>
              <a:ext cx="5411656" cy="16312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14411" lvl="1" indent="-457206">
                <a:buFont typeface="Wingdings" panose="05000000000000000000" pitchFamily="2" charset="2"/>
                <a:buChar char="ü"/>
              </a:pPr>
              <a:r>
                <a:rPr lang="fr-FR" sz="2000" dirty="0"/>
                <a:t>Pré-incubation de projet</a:t>
              </a:r>
            </a:p>
            <a:p>
              <a:pPr marL="914411" lvl="1" indent="-457206">
                <a:buFont typeface="Wingdings" panose="05000000000000000000" pitchFamily="2" charset="2"/>
                <a:buChar char="ü"/>
              </a:pPr>
              <a:r>
                <a:rPr lang="fr-FR" sz="2000" dirty="0"/>
                <a:t>Accompagnement technique et financier</a:t>
              </a:r>
            </a:p>
            <a:p>
              <a:pPr marL="914411" lvl="1" indent="-457206">
                <a:buFont typeface="Wingdings" panose="05000000000000000000" pitchFamily="2" charset="2"/>
                <a:buChar char="ü"/>
              </a:pPr>
              <a:r>
                <a:rPr lang="fr-FR" sz="2000" dirty="0"/>
                <a:t>Location de </a:t>
              </a:r>
              <a:r>
                <a:rPr lang="fr-FR" sz="2000" dirty="0" err="1"/>
                <a:t>boxs</a:t>
              </a:r>
              <a:r>
                <a:rPr lang="fr-FR" sz="2000" dirty="0"/>
                <a:t> avec accès aux lieux</a:t>
              </a:r>
            </a:p>
            <a:p>
              <a:pPr marL="914411" lvl="1" indent="-457206">
                <a:buFont typeface="Wingdings" panose="05000000000000000000" pitchFamily="2" charset="2"/>
                <a:buChar char="ü"/>
              </a:pPr>
              <a:r>
                <a:rPr lang="fr-FR" sz="2000" dirty="0"/>
                <a:t>Formations/ateliers professionnels</a:t>
              </a:r>
            </a:p>
            <a:p>
              <a:pPr marL="914411" lvl="1" indent="-457206">
                <a:buFont typeface="Wingdings" panose="05000000000000000000" pitchFamily="2" charset="2"/>
                <a:buChar char="ü"/>
              </a:pPr>
              <a:r>
                <a:rPr lang="fr-FR" sz="2000" dirty="0"/>
                <a:t>Evènements</a:t>
              </a:r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40201225-B164-4F4B-AC4F-6BAEA14CCB72}"/>
              </a:ext>
            </a:extLst>
          </p:cNvPr>
          <p:cNvSpPr txBox="1"/>
          <p:nvPr/>
        </p:nvSpPr>
        <p:spPr>
          <a:xfrm>
            <a:off x="1889932" y="4513049"/>
            <a:ext cx="2171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Faire</a:t>
            </a:r>
          </a:p>
          <a:p>
            <a:r>
              <a:rPr lang="fr-FR" sz="2400" b="1" dirty="0"/>
              <a:t>Partager</a:t>
            </a:r>
          </a:p>
          <a:p>
            <a:r>
              <a:rPr lang="fr-FR" sz="2400" b="1" dirty="0"/>
              <a:t>Apprendre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9F44AE83-96BC-4DE7-9210-07718044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0000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B755FA58-0615-4983-BF92-7F2492CEF853}"/>
              </a:ext>
            </a:extLst>
          </p:cNvPr>
          <p:cNvGrpSpPr/>
          <p:nvPr/>
        </p:nvGrpSpPr>
        <p:grpSpPr>
          <a:xfrm>
            <a:off x="278765" y="313227"/>
            <a:ext cx="11634469" cy="769441"/>
            <a:chOff x="285750" y="361394"/>
            <a:chExt cx="11634469" cy="769441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AA7AE65-E4E4-4D9C-A108-0D9093EFE1AA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" y="774133"/>
              <a:ext cx="2733675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F84870E-5429-421C-A4AA-BF514F7DA660}"/>
                </a:ext>
              </a:extLst>
            </p:cNvPr>
            <p:cNvSpPr txBox="1"/>
            <p:nvPr/>
          </p:nvSpPr>
          <p:spPr>
            <a:xfrm>
              <a:off x="3186113" y="361394"/>
              <a:ext cx="581977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400" cap="small" dirty="0">
                  <a:solidFill>
                    <a:srgbClr val="92D050"/>
                  </a:solidFill>
                </a:rPr>
                <a:t>AgriLab : L’équipe</a:t>
              </a:r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71CC221A-96C4-4AB9-9C42-BFB754805FE0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44" y="774133"/>
              <a:ext cx="2733675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9F44AE83-96BC-4DE7-9210-07718044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8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5094305-CA7B-48EA-B42F-61941E7653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1160" y="1196161"/>
            <a:ext cx="7778620" cy="518574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C27BBC7-8575-411C-9CBF-13BA30EEC0AA}"/>
              </a:ext>
            </a:extLst>
          </p:cNvPr>
          <p:cNvSpPr txBox="1"/>
          <p:nvPr/>
        </p:nvSpPr>
        <p:spPr>
          <a:xfrm>
            <a:off x="4526893" y="6425875"/>
            <a:ext cx="84754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Mehdi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388C119-F1AB-41E8-9DBA-26C0BBF03E48}"/>
              </a:ext>
            </a:extLst>
          </p:cNvPr>
          <p:cNvSpPr txBox="1"/>
          <p:nvPr/>
        </p:nvSpPr>
        <p:spPr>
          <a:xfrm>
            <a:off x="5301334" y="6425875"/>
            <a:ext cx="87709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Jérôme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86E0CA4-732B-49E5-9FD7-1BD3ABCC6D40}"/>
              </a:ext>
            </a:extLst>
          </p:cNvPr>
          <p:cNvSpPr txBox="1"/>
          <p:nvPr/>
        </p:nvSpPr>
        <p:spPr>
          <a:xfrm>
            <a:off x="6179997" y="6425875"/>
            <a:ext cx="84754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Florent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2E84D27-742B-4330-B6E1-DCAF74A313AA}"/>
              </a:ext>
            </a:extLst>
          </p:cNvPr>
          <p:cNvSpPr txBox="1"/>
          <p:nvPr/>
        </p:nvSpPr>
        <p:spPr>
          <a:xfrm>
            <a:off x="7014300" y="6425875"/>
            <a:ext cx="87707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Agathe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A2C445E-1E25-472C-B87C-2331117CF0C5}"/>
              </a:ext>
            </a:extLst>
          </p:cNvPr>
          <p:cNvSpPr txBox="1"/>
          <p:nvPr/>
        </p:nvSpPr>
        <p:spPr>
          <a:xfrm>
            <a:off x="7891375" y="6425875"/>
            <a:ext cx="56139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Luc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4483EA3-7B1C-4BC5-B367-629A1891E08F}"/>
              </a:ext>
            </a:extLst>
          </p:cNvPr>
          <p:cNvSpPr txBox="1"/>
          <p:nvPr/>
        </p:nvSpPr>
        <p:spPr>
          <a:xfrm>
            <a:off x="8439538" y="6425875"/>
            <a:ext cx="101859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Maxime</a:t>
            </a:r>
          </a:p>
        </p:txBody>
      </p:sp>
    </p:spTree>
    <p:extLst>
      <p:ext uri="{BB962C8B-B14F-4D97-AF65-F5344CB8AC3E}">
        <p14:creationId xmlns:p14="http://schemas.microsoft.com/office/powerpoint/2010/main" val="1885953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B755FA58-0615-4983-BF92-7F2492CEF853}"/>
              </a:ext>
            </a:extLst>
          </p:cNvPr>
          <p:cNvGrpSpPr/>
          <p:nvPr/>
        </p:nvGrpSpPr>
        <p:grpSpPr>
          <a:xfrm>
            <a:off x="278765" y="372023"/>
            <a:ext cx="11634469" cy="707886"/>
            <a:chOff x="285750" y="420190"/>
            <a:chExt cx="11634469" cy="707886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AA7AE65-E4E4-4D9C-A108-0D9093EFE1AA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" y="774133"/>
              <a:ext cx="2733675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F84870E-5429-421C-A4AA-BF514F7DA660}"/>
                </a:ext>
              </a:extLst>
            </p:cNvPr>
            <p:cNvSpPr txBox="1"/>
            <p:nvPr/>
          </p:nvSpPr>
          <p:spPr>
            <a:xfrm>
              <a:off x="3193097" y="420190"/>
              <a:ext cx="58197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cap="small" dirty="0">
                  <a:solidFill>
                    <a:srgbClr val="92D050"/>
                  </a:solidFill>
                </a:rPr>
                <a:t>Règles de bonne conduite</a:t>
              </a:r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71CC221A-96C4-4AB9-9C42-BFB754805FE0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44" y="774133"/>
              <a:ext cx="2733675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9F44AE83-96BC-4DE7-9210-07718044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9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96056F-55CA-4C38-A02E-2B1597F62DBD}"/>
              </a:ext>
            </a:extLst>
          </p:cNvPr>
          <p:cNvSpPr/>
          <p:nvPr/>
        </p:nvSpPr>
        <p:spPr>
          <a:xfrm>
            <a:off x="988058" y="3122574"/>
            <a:ext cx="1092517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333333"/>
                </a:solidFill>
                <a:ea typeface="Verdana" panose="020B0604030504040204" pitchFamily="34" charset="0"/>
              </a:rPr>
              <a:t>R</a:t>
            </a:r>
            <a:r>
              <a:rPr lang="fr-FR" sz="2000" b="0" i="0" u="none" strike="noStrike" dirty="0">
                <a:solidFill>
                  <a:srgbClr val="333333"/>
                </a:solidFill>
                <a:effectLst/>
                <a:ea typeface="Verdana" panose="020B0604030504040204" pitchFamily="34" charset="0"/>
              </a:rPr>
              <a:t>anger les zones d'usage après utilisation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b="0" i="0" u="none" strike="noStrike" dirty="0">
                <a:solidFill>
                  <a:srgbClr val="333333"/>
                </a:solidFill>
                <a:effectLst/>
                <a:ea typeface="Verdana" panose="020B0604030504040204" pitchFamily="34" charset="0"/>
              </a:rPr>
              <a:t>Commencer à ranger 30min avant l'heure de fermeture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333333"/>
                </a:solidFill>
                <a:ea typeface="Verdana" panose="020B0604030504040204" pitchFamily="34" charset="0"/>
              </a:rPr>
              <a:t>Pas d’accompagnant (pour des mesures de sécurité)</a:t>
            </a:r>
            <a:endParaRPr lang="fr-FR" sz="2000" b="0" i="0" u="none" strike="noStrike" dirty="0">
              <a:solidFill>
                <a:srgbClr val="333333"/>
              </a:solidFill>
              <a:effectLst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333333"/>
                </a:solidFill>
                <a:ea typeface="Verdana" panose="020B0604030504040204" pitchFamily="34" charset="0"/>
              </a:rPr>
              <a:t>R</a:t>
            </a:r>
            <a:r>
              <a:rPr lang="fr-FR" sz="2000" b="0" i="0" u="none" strike="noStrike" dirty="0">
                <a:solidFill>
                  <a:srgbClr val="333333"/>
                </a:solidFill>
                <a:effectLst/>
                <a:ea typeface="Verdana" panose="020B0604030504040204" pitchFamily="34" charset="0"/>
              </a:rPr>
              <a:t>efaire du café quand il n'y en a plus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333333"/>
                </a:solidFill>
                <a:ea typeface="Verdana" panose="020B0604030504040204" pitchFamily="34" charset="0"/>
              </a:rPr>
              <a:t>Faire sa vaisselle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333333"/>
                </a:solidFill>
                <a:ea typeface="Verdana" panose="020B0604030504040204" pitchFamily="34" charset="0"/>
              </a:rPr>
              <a:t>S’inscrire aux formations et prévenir l’équipe si on ne peut pas venir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333333"/>
                </a:solidFill>
                <a:ea typeface="Verdana" panose="020B0604030504040204" pitchFamily="34" charset="0"/>
              </a:rPr>
              <a:t>Référencer tous ses projets dans la partie </a:t>
            </a:r>
            <a:r>
              <a:rPr lang="fr-FR" sz="2000" dirty="0" err="1">
                <a:solidFill>
                  <a:srgbClr val="333333"/>
                </a:solidFill>
                <a:ea typeface="Verdana" panose="020B0604030504040204" pitchFamily="34" charset="0"/>
              </a:rPr>
              <a:t>OpenLab</a:t>
            </a:r>
            <a:endParaRPr lang="fr-FR" sz="2000" dirty="0">
              <a:solidFill>
                <a:srgbClr val="333333"/>
              </a:solidFill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333333"/>
                </a:solidFill>
                <a:ea typeface="Verdana" panose="020B0604030504040204" pitchFamily="34" charset="0"/>
              </a:rPr>
              <a:t>Être formé à une machine avant de l’utiliser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333333"/>
                </a:solidFill>
                <a:ea typeface="Verdana" panose="020B0604030504040204" pitchFamily="34" charset="0"/>
              </a:rPr>
              <a:t>Respecter les autres et le matériel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333333"/>
                </a:solidFill>
                <a:ea typeface="Verdana" panose="020B0604030504040204" pitchFamily="34" charset="0"/>
              </a:rPr>
              <a:t>Etc.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B9BFA1-D009-4274-96DD-A152043C34E6}"/>
              </a:ext>
            </a:extLst>
          </p:cNvPr>
          <p:cNvSpPr/>
          <p:nvPr/>
        </p:nvSpPr>
        <p:spPr>
          <a:xfrm>
            <a:off x="382269" y="1316411"/>
            <a:ext cx="114274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0" i="0" u="none" strike="noStrike" dirty="0">
                <a:solidFill>
                  <a:srgbClr val="333333"/>
                </a:solidFill>
                <a:effectLst/>
              </a:rPr>
              <a:t>Tout ce qui est fabriqué à AgriLab est </a:t>
            </a:r>
            <a:r>
              <a:rPr lang="fr-FR" sz="2400" b="1" i="0" u="none" strike="noStrike" dirty="0">
                <a:solidFill>
                  <a:srgbClr val="333333"/>
                </a:solidFill>
                <a:effectLst/>
              </a:rPr>
              <a:t>HORS NORME </a:t>
            </a:r>
            <a:r>
              <a:rPr lang="fr-FR" sz="2400" b="0" i="0" u="none" strike="noStrike" dirty="0">
                <a:solidFill>
                  <a:srgbClr val="333333"/>
                </a:solidFill>
                <a:effectLst/>
              </a:rPr>
              <a:t>!</a:t>
            </a:r>
            <a:br>
              <a:rPr lang="fr-FR" sz="2400" dirty="0"/>
            </a:br>
            <a:r>
              <a:rPr lang="fr-FR" sz="2400" b="1" i="0" u="none" strike="noStrike" dirty="0">
                <a:solidFill>
                  <a:srgbClr val="333333"/>
                </a:solidFill>
                <a:effectLst/>
              </a:rPr>
              <a:t>AgriLab n'est pas responsable</a:t>
            </a:r>
            <a:r>
              <a:rPr lang="fr-FR" sz="2400" b="0" i="0" u="none" strike="noStrike" dirty="0">
                <a:solidFill>
                  <a:srgbClr val="333333"/>
                </a:solidFill>
                <a:effectLst/>
              </a:rPr>
              <a:t> de ce qui est fait à AgriLab dans la partie </a:t>
            </a:r>
            <a:r>
              <a:rPr lang="fr-FR" sz="2400" b="0" i="0" u="none" strike="noStrike" dirty="0" err="1">
                <a:solidFill>
                  <a:srgbClr val="333333"/>
                </a:solidFill>
                <a:effectLst/>
              </a:rPr>
              <a:t>OpenLab</a:t>
            </a:r>
            <a:r>
              <a:rPr lang="fr-FR" sz="2400" b="0" i="0" u="none" strike="noStrike" dirty="0">
                <a:solidFill>
                  <a:srgbClr val="333333"/>
                </a:solidFill>
                <a:effectLst/>
              </a:rPr>
              <a:t>. La </a:t>
            </a:r>
            <a:r>
              <a:rPr lang="fr-FR" sz="2400" b="1" i="0" u="none" strike="noStrike" dirty="0">
                <a:solidFill>
                  <a:srgbClr val="333333"/>
                </a:solidFill>
                <a:effectLst/>
              </a:rPr>
              <a:t>responsabilité est portée par le porteur de projet </a:t>
            </a:r>
            <a:r>
              <a:rPr lang="fr-FR" sz="2400" b="0" i="0" u="none" strike="noStrike" dirty="0">
                <a:solidFill>
                  <a:srgbClr val="333333"/>
                </a:solidFill>
                <a:effectLst/>
              </a:rPr>
              <a:t>lui-même.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731546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B755FA58-0615-4983-BF92-7F2492CEF853}"/>
              </a:ext>
            </a:extLst>
          </p:cNvPr>
          <p:cNvGrpSpPr/>
          <p:nvPr/>
        </p:nvGrpSpPr>
        <p:grpSpPr>
          <a:xfrm>
            <a:off x="278765" y="372023"/>
            <a:ext cx="11634469" cy="707886"/>
            <a:chOff x="285750" y="420190"/>
            <a:chExt cx="11634469" cy="707886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AA7AE65-E4E4-4D9C-A108-0D9093EFE1AA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" y="774133"/>
              <a:ext cx="2733675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F84870E-5429-421C-A4AA-BF514F7DA660}"/>
                </a:ext>
              </a:extLst>
            </p:cNvPr>
            <p:cNvSpPr txBox="1"/>
            <p:nvPr/>
          </p:nvSpPr>
          <p:spPr>
            <a:xfrm>
              <a:off x="3193097" y="420190"/>
              <a:ext cx="58197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cap="small" dirty="0">
                  <a:solidFill>
                    <a:srgbClr val="92D050"/>
                  </a:solidFill>
                </a:rPr>
                <a:t>Site Internet</a:t>
              </a:r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71CC221A-96C4-4AB9-9C42-BFB754805FE0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44" y="774133"/>
              <a:ext cx="2733675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9F44AE83-96BC-4DE7-9210-07718044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10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884C2CA-DEC1-4F6C-87A5-BA2BF88F1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5039"/>
            <a:ext cx="12192000" cy="511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16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B755FA58-0615-4983-BF92-7F2492CEF853}"/>
              </a:ext>
            </a:extLst>
          </p:cNvPr>
          <p:cNvGrpSpPr/>
          <p:nvPr/>
        </p:nvGrpSpPr>
        <p:grpSpPr>
          <a:xfrm>
            <a:off x="278765" y="372023"/>
            <a:ext cx="11634469" cy="707886"/>
            <a:chOff x="285750" y="420190"/>
            <a:chExt cx="11634469" cy="707886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AA7AE65-E4E4-4D9C-A108-0D9093EFE1AA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" y="774133"/>
              <a:ext cx="2733675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F84870E-5429-421C-A4AA-BF514F7DA660}"/>
                </a:ext>
              </a:extLst>
            </p:cNvPr>
            <p:cNvSpPr txBox="1"/>
            <p:nvPr/>
          </p:nvSpPr>
          <p:spPr>
            <a:xfrm>
              <a:off x="3193097" y="420190"/>
              <a:ext cx="581977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cap="small" dirty="0">
                  <a:solidFill>
                    <a:srgbClr val="92D050"/>
                  </a:solidFill>
                </a:rPr>
                <a:t>Espace projet d’AgriLab</a:t>
              </a:r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71CC221A-96C4-4AB9-9C42-BFB754805FE0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44" y="774133"/>
              <a:ext cx="2733675" cy="0"/>
            </a:xfrm>
            <a:prstGeom prst="line">
              <a:avLst/>
            </a:prstGeom>
            <a:ln w="762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9F44AE83-96BC-4DE7-9210-07718044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11</a:t>
            </a:fld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B3485D-19B2-46B6-B7B4-CF3F559CA2C6}"/>
              </a:ext>
            </a:extLst>
          </p:cNvPr>
          <p:cNvSpPr/>
          <p:nvPr/>
        </p:nvSpPr>
        <p:spPr>
          <a:xfrm>
            <a:off x="757762" y="1206906"/>
            <a:ext cx="11434238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fr-FR" sz="2000" dirty="0"/>
              <a:t>Aller sur le lien suivant : </a:t>
            </a:r>
            <a:r>
              <a:rPr lang="fr-FR" sz="2000" b="1" dirty="0"/>
              <a:t>agrilab.unilasalle.fr/projets/</a:t>
            </a:r>
          </a:p>
          <a:p>
            <a:pPr marL="342900" indent="-342900">
              <a:buAutoNum type="arabicParenR"/>
            </a:pPr>
            <a:r>
              <a:rPr lang="fr-FR" sz="2000" dirty="0"/>
              <a:t>Cliquer sur « </a:t>
            </a:r>
            <a:r>
              <a:rPr lang="fr-FR" sz="2000" b="1" dirty="0"/>
              <a:t>S’enregistrer</a:t>
            </a:r>
            <a:r>
              <a:rPr lang="fr-FR" sz="2000" dirty="0"/>
              <a:t> » en haut à droite de l’écran et compléter le formulaire</a:t>
            </a:r>
          </a:p>
          <a:p>
            <a:pPr marL="342900" indent="-342900">
              <a:buAutoNum type="arabicParenR"/>
            </a:pPr>
            <a:r>
              <a:rPr lang="fr-FR" sz="2000" dirty="0"/>
              <a:t>Une fois qu’un administrateur a accepté la demande d’enregistrement aller dans </a:t>
            </a:r>
            <a:r>
              <a:rPr lang="fr-FR" sz="2000" b="1" dirty="0"/>
              <a:t>« Projets » </a:t>
            </a:r>
            <a:r>
              <a:rPr lang="fr-FR" sz="2000" dirty="0"/>
              <a:t>en haut à gauche</a:t>
            </a:r>
          </a:p>
          <a:p>
            <a:pPr marL="342900" indent="-342900">
              <a:buAutoNum type="arabicParenR"/>
            </a:pPr>
            <a:r>
              <a:rPr lang="fr-FR" sz="2000" dirty="0"/>
              <a:t>Aller dans le projet </a:t>
            </a:r>
            <a:r>
              <a:rPr lang="fr-FR" sz="2000" b="1" dirty="0"/>
              <a:t>« Wiki AgriLab » </a:t>
            </a:r>
            <a:r>
              <a:rPr lang="fr-FR" sz="2000" dirty="0"/>
              <a:t>qui référence toutes les machines et les formations</a:t>
            </a:r>
          </a:p>
          <a:p>
            <a:pPr marL="342900" indent="-342900">
              <a:buAutoNum type="arabicParenR"/>
            </a:pPr>
            <a:r>
              <a:rPr lang="fr-FR" sz="2000" dirty="0"/>
              <a:t>Puis aller dans le projet </a:t>
            </a:r>
            <a:r>
              <a:rPr lang="fr-FR" sz="2000" b="1" dirty="0"/>
              <a:t>« </a:t>
            </a:r>
            <a:r>
              <a:rPr lang="fr-FR" sz="2000" b="1" dirty="0" err="1"/>
              <a:t>OpenLab</a:t>
            </a:r>
            <a:r>
              <a:rPr lang="fr-FR" sz="2000" b="1" dirty="0"/>
              <a:t> » </a:t>
            </a:r>
            <a:r>
              <a:rPr lang="fr-FR" sz="2000" dirty="0"/>
              <a:t>et se créer un espace en cliquant sur « Modifier » pour pouvoir commencer à sourcer son prochain projet</a:t>
            </a:r>
          </a:p>
          <a:p>
            <a:pPr marL="342900" indent="-342900">
              <a:buAutoNum type="arabicParenR"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6F6F505-7A0D-4765-A9E0-1972F9582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92242"/>
            <a:ext cx="3809999" cy="322923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653EA74-9C5C-488E-883D-F5D5AB142A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1345" y="3471922"/>
            <a:ext cx="5678003" cy="299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09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9F44AE83-96BC-4DE7-9210-07718044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62D0-423C-4119-B50C-E296720CECEF}" type="slidenum">
              <a:rPr lang="fr-FR" smtClean="0"/>
              <a:t>12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BEBA7BF-2AB6-4CB0-B59E-B7026F706D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405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522</Words>
  <Application>Microsoft Office PowerPoint</Application>
  <PresentationFormat>Grand écran</PresentationFormat>
  <Paragraphs>97</Paragraphs>
  <Slides>12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Agathe Caille</dc:creator>
  <cp:lastModifiedBy>Maxime AGNES</cp:lastModifiedBy>
  <cp:revision>23</cp:revision>
  <dcterms:created xsi:type="dcterms:W3CDTF">2019-03-06T15:33:02Z</dcterms:created>
  <dcterms:modified xsi:type="dcterms:W3CDTF">2019-04-01T10:09:49Z</dcterms:modified>
</cp:coreProperties>
</file>